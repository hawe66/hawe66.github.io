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20"/>
    <p:sldId id="266" r:id="rId21"/>
  </p:sldIdLst>
  <p:sldSz cy="5143500" cx="9144000"/>
  <p:notesSz cx="6858000" cy="9144000"/>
  <p:embeddedFontLst>
    <p:embeddedFont>
      <p:font typeface="Lato"/>
      <p:regular r:id="rId15"/>
      <p:bold r:id="rId16"/>
      <p:italic r:id="rId17"/>
      <p:boldItalic r:id="rId18"/>
    </p:embeddedFont>
    <p:embeddedFont>
      <p:font typeface="Arial Black"/>
      <p:regular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regular.fntdata"/><Relationship Id="rId14" Type="http://schemas.openxmlformats.org/officeDocument/2006/relationships/slide" Target="slides/slide9.xml"/><Relationship Id="rId17" Type="http://schemas.openxmlformats.org/officeDocument/2006/relationships/font" Target="fonts/Lato-italic.fntdata"/><Relationship Id="rId16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19" Type="http://schemas.openxmlformats.org/officeDocument/2006/relationships/font" Target="fonts/ArialBlack-regular.fntdata"/><Relationship Id="rId6" Type="http://schemas.openxmlformats.org/officeDocument/2006/relationships/slide" Target="slides/slide1.xml"/><Relationship Id="rId18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3e65b57f852_1_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g3e65b57f852_1_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g3e65b57f852_1_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e65b57f852_1_14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" name="Google Shape;63;g3e65b57f852_1_14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" name="Google Shape;64;g3e65b57f852_1_14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e65b57f852_1_58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g3e65b57f852_1_58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e65b57f852_1_58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e65b57f852_1_8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9" name="Google Shape;119;g3e65b57f852_1_8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g3e65b57f852_1_8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e65b57f852_1_11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9" name="Google Shape;169;g3e65b57f852_1_11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e65b57f852_1_11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e65b57f852_1_135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g3e65b57f852_1_135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g3e65b57f852_1_135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e65b57f852_1_150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4" name="Google Shape;194;g3e65b57f852_1_150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g3e65b57f852_1_150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e65b57f852_1_18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4" name="Google Shape;224;g3e65b57f852_1_18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g3e65b57f852_1_18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e65b57f852_1_22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g3e65b57f852_1_22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g3e65b57f852_1_22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1.png"/><Relationship Id="rId5" Type="http://schemas.openxmlformats.org/officeDocument/2006/relationships/hyperlink" Target="mailto:hawe66@kaist.ac.kr" TargetMode="External"/><Relationship Id="rId6" Type="http://schemas.openxmlformats.org/officeDocument/2006/relationships/hyperlink" Target="http://github.com/hawe66" TargetMode="External"/><Relationship Id="rId7" Type="http://schemas.openxmlformats.org/officeDocument/2006/relationships/hyperlink" Target="https://hawe66.github.io/" TargetMode="Externa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.png"/><Relationship Id="rId4" Type="http://schemas.openxmlformats.org/officeDocument/2006/relationships/image" Target="../media/image6.gif"/><Relationship Id="rId5" Type="http://schemas.openxmlformats.org/officeDocument/2006/relationships/image" Target="../media/image7.png"/></Relationships>
</file>

<file path=ppt/slides/_rels/slide4.xml.rels><?xml version="1.0" encoding="UTF-8" standalone="yes"?><Relationships xmlns="http://schemas.openxmlformats.org/package/2006/relationships"><Relationship Id="rId10" Type="http://schemas.openxmlformats.org/officeDocument/2006/relationships/image" Target="../media/image19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9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8.png"/><Relationship Id="rId7" Type="http://schemas.openxmlformats.org/officeDocument/2006/relationships/image" Target="../media/image17.png"/><Relationship Id="rId8" Type="http://schemas.openxmlformats.org/officeDocument/2006/relationships/image" Target="../media/image15.gif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2.gif"/><Relationship Id="rId4" Type="http://schemas.openxmlformats.org/officeDocument/2006/relationships/image" Target="../media/image8.gif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B2A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reencoded.png" id="56" name="Google Shape;5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731520"/>
            <a:ext cx="548640" cy="54864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preencoded.png" id="57" name="Google Shape;5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325880" y="731520"/>
            <a:ext cx="548640" cy="54864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4"/>
          <p:cNvSpPr/>
          <p:nvPr/>
        </p:nvSpPr>
        <p:spPr>
          <a:xfrm>
            <a:off x="640075" y="1676124"/>
            <a:ext cx="7772400" cy="13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rPr b="1" lang="ko" sz="3200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Portfolio</a:t>
            </a:r>
            <a:endParaRPr b="1" i="0" sz="3200" u="none" cap="none" strike="noStrike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t/>
            </a:r>
            <a:endParaRPr b="1" sz="15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 Black"/>
              <a:buNone/>
            </a:pPr>
            <a:r>
              <a:t/>
            </a:r>
            <a:endParaRPr b="1" sz="1500">
              <a:solidFill>
                <a:srgbClr val="FFFFFF"/>
              </a:solidFill>
              <a:latin typeface="Arial Black"/>
              <a:ea typeface="Arial Black"/>
              <a:cs typeface="Arial Black"/>
              <a:sym typeface="Arial Black"/>
            </a:endParaRPr>
          </a:p>
        </p:txBody>
      </p:sp>
      <p:sp>
        <p:nvSpPr>
          <p:cNvPr id="59" name="Google Shape;59;p14"/>
          <p:cNvSpPr/>
          <p:nvPr/>
        </p:nvSpPr>
        <p:spPr>
          <a:xfrm>
            <a:off x="640080" y="3291840"/>
            <a:ext cx="274320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p14"/>
          <p:cNvSpPr/>
          <p:nvPr/>
        </p:nvSpPr>
        <p:spPr>
          <a:xfrm>
            <a:off x="640080" y="3566160"/>
            <a:ext cx="45720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ko" sz="1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조영하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KAIST 뇌인지공학 석사 (BML Lab)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LG CNS GenAI사업팀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100"/>
              <a:buFont typeface="Arial"/>
              <a:buNone/>
            </a:pP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hawe66@kaist.ac.kr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 |  </a:t>
            </a: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6"/>
              </a:rPr>
              <a:t>github.com/hawe66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| </a:t>
            </a:r>
            <a:r>
              <a:rPr b="0" i="0" lang="ko" sz="11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7"/>
              </a:rPr>
              <a:t>https://hawe66.github.io/</a:t>
            </a:r>
            <a:r>
              <a:rPr b="0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lang="ko" sz="2600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Outline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뇌인지 </a:t>
            </a:r>
            <a:r>
              <a:rPr lang="ko" sz="1300">
                <a:solidFill>
                  <a:srgbClr val="90A4AE"/>
                </a:solidFill>
              </a:rPr>
              <a:t>기반 AI/ML 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연구 → LLM 시스템 구축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5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/>
          <p:nvPr/>
        </p:nvSpPr>
        <p:spPr>
          <a:xfrm>
            <a:off x="457200" y="2141304"/>
            <a:ext cx="1143100" cy="731400"/>
          </a:xfrm>
          <a:prstGeom prst="rect">
            <a:avLst/>
          </a:prstGeom>
          <a:solidFill>
            <a:srgbClr val="0D1B2A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" name="Google Shape;70;p15"/>
          <p:cNvSpPr/>
          <p:nvPr/>
        </p:nvSpPr>
        <p:spPr>
          <a:xfrm>
            <a:off x="4572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졸업연구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EUP · SPCN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/>
          <p:nvPr/>
        </p:nvSpPr>
        <p:spPr>
          <a:xfrm>
            <a:off x="4572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의도 추론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RL 시뮬레이션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6003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15"/>
          <p:cNvSpPr/>
          <p:nvPr/>
        </p:nvSpPr>
        <p:spPr>
          <a:xfrm>
            <a:off x="18745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15"/>
          <p:cNvSpPr/>
          <p:nvPr/>
        </p:nvSpPr>
        <p:spPr>
          <a:xfrm>
            <a:off x="18745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추천시스템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백엔드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15"/>
          <p:cNvSpPr/>
          <p:nvPr/>
        </p:nvSpPr>
        <p:spPr>
          <a:xfrm>
            <a:off x="18745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시스템 설계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파이프라인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" name="Google Shape;72;p15"/>
          <p:cNvSpPr/>
          <p:nvPr/>
        </p:nvSpPr>
        <p:spPr>
          <a:xfrm>
            <a:off x="30176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5"/>
          <p:cNvSpPr/>
          <p:nvPr/>
        </p:nvSpPr>
        <p:spPr>
          <a:xfrm>
            <a:off x="32918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/>
          <p:nvPr/>
        </p:nvSpPr>
        <p:spPr>
          <a:xfrm>
            <a:off x="32918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KG Explorer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15"/>
          <p:cNvSpPr/>
          <p:nvPr/>
        </p:nvSpPr>
        <p:spPr>
          <a:xfrm>
            <a:off x="32918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자연어→</a:t>
            </a:r>
            <a:r>
              <a:rPr lang="ko" sz="800">
                <a:solidFill>
                  <a:srgbClr val="90A4AE"/>
                </a:solidFill>
              </a:rPr>
              <a:t>그래프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생성 파이프라인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72;p15"/>
          <p:cNvSpPr/>
          <p:nvPr/>
        </p:nvSpPr>
        <p:spPr>
          <a:xfrm>
            <a:off x="44349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15"/>
          <p:cNvSpPr/>
          <p:nvPr/>
        </p:nvSpPr>
        <p:spPr>
          <a:xfrm>
            <a:off x="47091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5"/>
          <p:cNvSpPr/>
          <p:nvPr/>
        </p:nvSpPr>
        <p:spPr>
          <a:xfrm>
            <a:off x="47091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LLM as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a Judge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47091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생성 품질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평가 체계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3" name="Google Shape;72;p15"/>
          <p:cNvSpPr/>
          <p:nvPr/>
        </p:nvSpPr>
        <p:spPr>
          <a:xfrm>
            <a:off x="58522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5"/>
          <p:cNvSpPr/>
          <p:nvPr/>
        </p:nvSpPr>
        <p:spPr>
          <a:xfrm>
            <a:off x="6126400" y="2141304"/>
            <a:ext cx="1143100" cy="731400"/>
          </a:xfrm>
          <a:prstGeom prst="rect">
            <a:avLst/>
          </a:prstGeom>
          <a:solidFill>
            <a:srgbClr val="1565C0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61264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LG CNS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실무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5"/>
          <p:cNvSpPr/>
          <p:nvPr/>
        </p:nvSpPr>
        <p:spPr>
          <a:xfrm>
            <a:off x="61264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에이전트 PoC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도메인 적응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" name="Google Shape;72;p15"/>
          <p:cNvSpPr/>
          <p:nvPr/>
        </p:nvSpPr>
        <p:spPr>
          <a:xfrm>
            <a:off x="7269500" y="2141304"/>
            <a:ext cx="2742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600"/>
              <a:buFont typeface="Calibri"/>
              <a:buNone/>
            </a:pPr>
            <a:r>
              <a:rPr b="0" i="0" lang="ko" sz="16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77;p15"/>
          <p:cNvSpPr/>
          <p:nvPr/>
        </p:nvSpPr>
        <p:spPr>
          <a:xfrm>
            <a:off x="7543700" y="2141304"/>
            <a:ext cx="1143100" cy="7314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6" name="Google Shape;78;p15"/>
          <p:cNvSpPr/>
          <p:nvPr/>
        </p:nvSpPr>
        <p:spPr>
          <a:xfrm>
            <a:off x="7543700" y="2141304"/>
            <a:ext cx="11431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Multimodal RAG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" name="Google Shape;79;p15"/>
          <p:cNvSpPr/>
          <p:nvPr/>
        </p:nvSpPr>
        <p:spPr>
          <a:xfrm>
            <a:off x="7543700" y="2964264"/>
            <a:ext cx="11431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도면 캡션</a:t>
            </a:r>
            <a:r>
              <a:rPr lang="ko" sz="800">
                <a:solidFill>
                  <a:srgbClr val="90A4AE"/>
                </a:solidFill>
              </a:rPr>
              <a:t/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크로스모달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5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6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졸업연구: 이벤트 단위 예측 </a:t>
            </a:r>
            <a:r>
              <a:rPr b="1" i="0" lang="ko" sz="20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(E</a:t>
            </a:r>
            <a:r>
              <a:rPr b="1" lang="ko" sz="2000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vent </a:t>
            </a:r>
            <a:r>
              <a:rPr b="1" i="0" lang="ko" sz="20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Unit Prediction)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6"/>
          <p:cNvSpPr/>
          <p:nvPr/>
        </p:nvSpPr>
        <p:spPr>
          <a:xfrm>
            <a:off x="411475" y="859601"/>
            <a:ext cx="8229600" cy="457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6"/>
          <p:cNvSpPr/>
          <p:nvPr/>
        </p:nvSpPr>
        <p:spPr>
          <a:xfrm>
            <a:off x="594330" y="815200"/>
            <a:ext cx="78639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연구 질문  </a:t>
            </a:r>
            <a:r>
              <a:rPr b="0" i="0" lang="k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사람은 연속적인 환경을 이벤트 단위로 나누어 예측하는데, 이 구조를 계산 모델로 설계하고 검증할 수 있는가?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411480" y="1389333"/>
            <a:ext cx="7772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문제: 이를 검증할 실험 환경이 존재하지 않음 → 실험 플랫폼과 계산 모델을 직접 설계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16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6"/>
          <p:cNvSpPr/>
          <p:nvPr/>
        </p:nvSpPr>
        <p:spPr>
          <a:xfrm>
            <a:off x="594351" y="1704408"/>
            <a:ext cx="2583000" cy="3591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89775" lIns="89775" spcFirstLastPara="1" rIns="89775" wrap="square" tIns="8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6"/>
          <p:cNvSpPr/>
          <p:nvPr/>
        </p:nvSpPr>
        <p:spPr>
          <a:xfrm>
            <a:off x="594351" y="1704408"/>
            <a:ext cx="2583000" cy="359100"/>
          </a:xfrm>
          <a:prstGeom prst="rect">
            <a:avLst/>
          </a:prstGeom>
          <a:solidFill>
            <a:srgbClr val="6AA84F"/>
          </a:solidFill>
          <a:ln>
            <a:noFill/>
          </a:ln>
        </p:spPr>
        <p:txBody>
          <a:bodyPr anchorCtr="0" anchor="ctr" bIns="44875" lIns="89775" spcFirstLastPara="1" rIns="89775" wrap="square" tIns="44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7"/>
              <a:buFont typeface="Calibri"/>
              <a:buNone/>
            </a:pPr>
            <a:r>
              <a:rPr b="1" i="0" lang="ko" sz="1277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Prediction</a:t>
            </a:r>
            <a:endParaRPr b="0" i="0" sz="127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6"/>
          <p:cNvSpPr/>
          <p:nvPr/>
        </p:nvSpPr>
        <p:spPr>
          <a:xfrm>
            <a:off x="809381" y="3698961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목표 상태 설정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+ 하위 궤적 그리기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282702" y="1704408"/>
            <a:ext cx="2453700" cy="3192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79750" lIns="79750" spcFirstLastPara="1" rIns="79750" wrap="square" tIns="797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6"/>
          <p:cNvSpPr/>
          <p:nvPr/>
        </p:nvSpPr>
        <p:spPr>
          <a:xfrm>
            <a:off x="3282712" y="1704408"/>
            <a:ext cx="2517000" cy="359100"/>
          </a:xfrm>
          <a:prstGeom prst="rect">
            <a:avLst/>
          </a:prstGeom>
          <a:solidFill>
            <a:srgbClr val="F1C232"/>
          </a:solidFill>
          <a:ln>
            <a:noFill/>
          </a:ln>
        </p:spPr>
        <p:txBody>
          <a:bodyPr anchorCtr="0" anchor="ctr" bIns="39875" lIns="79750" spcFirstLastPara="1" rIns="79750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34"/>
              <a:buFont typeface="Calibri"/>
              <a:buNone/>
            </a:pPr>
            <a:r>
              <a:rPr b="1" i="0" lang="ko" sz="1134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Gameplay</a:t>
            </a:r>
            <a:endParaRPr b="0" i="0" sz="113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6"/>
          <p:cNvSpPr/>
          <p:nvPr/>
        </p:nvSpPr>
        <p:spPr>
          <a:xfrm>
            <a:off x="3402523" y="3698961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예측에 따라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행동 실행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906141" y="1702641"/>
            <a:ext cx="2518200" cy="3687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89925" lIns="89925" spcFirstLastPara="1" rIns="89925" wrap="square" tIns="899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6"/>
          <p:cNvSpPr/>
          <p:nvPr/>
        </p:nvSpPr>
        <p:spPr>
          <a:xfrm>
            <a:off x="5895248" y="1713534"/>
            <a:ext cx="2518200" cy="36870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anchorCtr="0" anchor="ctr" bIns="44950" lIns="89925" spcFirstLastPara="1" rIns="89925" wrap="square" tIns="4495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79"/>
              <a:buFont typeface="Calibri"/>
              <a:buNone/>
            </a:pPr>
            <a:r>
              <a:rPr b="1" i="0" lang="ko" sz="1279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Update</a:t>
            </a:r>
            <a:endParaRPr b="0" i="0" sz="127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/>
          <p:nvPr/>
        </p:nvSpPr>
        <p:spPr>
          <a:xfrm>
            <a:off x="6224397" y="3698962"/>
            <a:ext cx="22338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t" bIns="39875" lIns="79775" spcFirstLastPara="1" rIns="79775" wrap="square" tIns="398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이전 예측 vs 실제 비교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960"/>
              <a:buFont typeface="Calibri"/>
              <a:buNone/>
            </a:pPr>
            <a:r>
              <a:rPr b="0" i="0" lang="ko" sz="96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→ 전략 수정</a:t>
            </a:r>
            <a:endParaRPr b="0" i="0" sz="96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94328" y="4186724"/>
            <a:ext cx="7180500" cy="3591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602428" y="4186724"/>
            <a:ext cx="48000" cy="359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793788" y="4186724"/>
            <a:ext cx="68616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873"/>
              <a:buFont typeface="Calibri"/>
              <a:buNone/>
            </a:pPr>
            <a:r>
              <a:rPr b="1" i="0" lang="ko" sz="873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Human  </a:t>
            </a:r>
            <a:r>
              <a:rPr b="0" i="0" lang="ko" sz="87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온라인 실험 플랫폼 직접 설계·개발 (Unity WebGL + Firebase)  ·  97명 참가, 82명 데이터 분석  ·  5개 환경</a:t>
            </a:r>
            <a:endParaRPr b="0" i="0" sz="87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608458" y="4660363"/>
            <a:ext cx="7180500" cy="35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16"/>
          <p:cNvSpPr/>
          <p:nvPr/>
        </p:nvSpPr>
        <p:spPr>
          <a:xfrm>
            <a:off x="608458" y="4660363"/>
            <a:ext cx="48000" cy="359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79775" lIns="79775" spcFirstLastPara="1" rIns="79775" wrap="square" tIns="79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6"/>
          <p:cNvSpPr/>
          <p:nvPr/>
        </p:nvSpPr>
        <p:spPr>
          <a:xfrm>
            <a:off x="807919" y="4660363"/>
            <a:ext cx="6861600" cy="35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873"/>
              <a:buFont typeface="Calibri"/>
              <a:buNone/>
            </a:pPr>
            <a:r>
              <a:rPr b="1" i="0" lang="ko" sz="873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AI  </a:t>
            </a:r>
            <a:r>
              <a:rPr b="0" i="0" lang="ko" sz="873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동일 환경에서 계산 모델 학습·평가 (Phy-Q 벤치마크 기반 학습 환경 구축)  ·  슬라이드 4에서 상세</a:t>
            </a:r>
            <a:endParaRPr b="0" i="0" sz="873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 rotWithShape="1">
          <a:blip r:embed="rId3">
            <a:alphaModFix/>
          </a:blip>
          <a:srcRect b="2200" l="0" r="0" t="0"/>
          <a:stretch/>
        </p:blipFill>
        <p:spPr>
          <a:xfrm>
            <a:off x="602421" y="2152179"/>
            <a:ext cx="2582942" cy="14180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282701" y="2145035"/>
            <a:ext cx="2517273" cy="14180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97307" y="2157490"/>
            <a:ext cx="2517265" cy="139115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7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EUP: 계산 모델 설계 및 검증 결과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시간축 VAE 기반 모델 + 인지 원리 모듈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/>
          <p:nvPr/>
        </p:nvSpPr>
        <p:spPr>
          <a:xfrm>
            <a:off x="2797883" y="1051550"/>
            <a:ext cx="3915300" cy="3061500"/>
          </a:xfrm>
          <a:prstGeom prst="rect">
            <a:avLst/>
          </a:prstGeom>
          <a:solidFill>
            <a:srgbClr val="F5F7FA"/>
          </a:solidFill>
          <a:ln cap="flat" cmpd="sng" w="9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17"/>
          <p:cNvSpPr/>
          <p:nvPr/>
        </p:nvSpPr>
        <p:spPr>
          <a:xfrm>
            <a:off x="2345450" y="1068857"/>
            <a:ext cx="46704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B7280"/>
              </a:buClr>
              <a:buSzPts val="946"/>
              <a:buFont typeface="Calibri"/>
              <a:buNone/>
            </a:pPr>
            <a:r>
              <a:rPr b="0" i="1" lang="ko" sz="946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Backbone: VTA (시간적 추상화 기반 시퀀스 모델)</a:t>
            </a:r>
            <a:endParaRPr b="0" i="0" sz="946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7"/>
          <p:cNvSpPr/>
          <p:nvPr/>
        </p:nvSpPr>
        <p:spPr>
          <a:xfrm>
            <a:off x="408287" y="1051550"/>
            <a:ext cx="2294100" cy="3061500"/>
          </a:xfrm>
          <a:prstGeom prst="rect">
            <a:avLst/>
          </a:prstGeom>
          <a:solidFill>
            <a:srgbClr val="FFF7ED"/>
          </a:solidFill>
          <a:ln cap="flat" cmpd="sng" w="12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17"/>
          <p:cNvSpPr/>
          <p:nvPr/>
        </p:nvSpPr>
        <p:spPr>
          <a:xfrm>
            <a:off x="698361" y="1094803"/>
            <a:ext cx="1643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040"/>
              <a:buFont typeface="Calibri"/>
              <a:buNone/>
            </a:pPr>
            <a:r>
              <a:rPr b="1" i="0" lang="ko" sz="1040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Counterfactual</a:t>
            </a:r>
            <a:endParaRPr b="0" i="0" sz="104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17"/>
          <p:cNvSpPr/>
          <p:nvPr/>
        </p:nvSpPr>
        <p:spPr>
          <a:xfrm>
            <a:off x="682564" y="3246122"/>
            <a:ext cx="15567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인과 시뮬레이션으로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이벤트 경계 발견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17"/>
          <p:cNvSpPr/>
          <p:nvPr/>
        </p:nvSpPr>
        <p:spPr>
          <a:xfrm>
            <a:off x="682564" y="3639146"/>
            <a:ext cx="1556700" cy="475500"/>
          </a:xfrm>
          <a:prstGeom prst="rect">
            <a:avLst/>
          </a:prstGeom>
          <a:solidFill>
            <a:srgbClr val="FEF3C7"/>
          </a:solidFill>
          <a:ln cap="flat" cmpd="sng" w="9525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17"/>
          <p:cNvSpPr/>
          <p:nvPr/>
        </p:nvSpPr>
        <p:spPr>
          <a:xfrm>
            <a:off x="855625" y="3649717"/>
            <a:ext cx="14703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757"/>
              <a:buFont typeface="Calibri"/>
              <a:buNone/>
            </a:pPr>
            <a:r>
              <a:rPr b="1" i="0" lang="ko" sz="757" u="none" cap="none" strike="noStrike">
                <a:solidFill>
                  <a:srgbClr val="F97316"/>
                </a:solidFill>
                <a:latin typeface="Calibri"/>
                <a:ea typeface="Calibri"/>
                <a:cs typeface="Calibri"/>
                <a:sym typeface="Calibri"/>
              </a:rPr>
              <a:t>착안: </a:t>
            </a:r>
            <a:r>
              <a:rPr b="0" i="0" lang="ko" sz="757" u="none" cap="none" strike="noStrike">
                <a:solidFill>
                  <a:srgbClr val="92400E"/>
                </a:solidFill>
                <a:latin typeface="Calibri"/>
                <a:ea typeface="Calibri"/>
                <a:cs typeface="Calibri"/>
                <a:sym typeface="Calibri"/>
              </a:rPr>
              <a:t>인과성이 이벤트 간 연결을 강화한다는 인지 연구</a:t>
            </a:r>
            <a:endParaRPr b="0" i="0" sz="7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7"/>
          <p:cNvSpPr/>
          <p:nvPr/>
        </p:nvSpPr>
        <p:spPr>
          <a:xfrm>
            <a:off x="2621181" y="2089407"/>
            <a:ext cx="2592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97316"/>
              </a:buClr>
              <a:buSzPts val="1324"/>
              <a:buFont typeface="Calibri"/>
              <a:buNone/>
            </a:pP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324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6850663" y="1051550"/>
            <a:ext cx="2101800" cy="3061500"/>
          </a:xfrm>
          <a:prstGeom prst="rect">
            <a:avLst/>
          </a:prstGeom>
          <a:solidFill>
            <a:srgbClr val="ECFDF5"/>
          </a:solidFill>
          <a:ln cap="flat" cmpd="sng" w="12000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17"/>
          <p:cNvSpPr/>
          <p:nvPr/>
        </p:nvSpPr>
        <p:spPr>
          <a:xfrm>
            <a:off x="7102251" y="1094803"/>
            <a:ext cx="16431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040"/>
              <a:buFont typeface="Calibri"/>
              <a:buNone/>
            </a:pPr>
            <a:r>
              <a:rPr b="1" i="0" lang="ko" sz="1040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Fill-in</a:t>
            </a:r>
            <a:endParaRPr b="0" i="0" sz="104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7"/>
          <p:cNvSpPr/>
          <p:nvPr/>
        </p:nvSpPr>
        <p:spPr>
          <a:xfrm>
            <a:off x="7145495" y="3269738"/>
            <a:ext cx="1556700" cy="38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경계 상태를 먼저 예측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899"/>
              <a:buFont typeface="Calibri"/>
              <a:buNone/>
            </a:pPr>
            <a:r>
              <a:rPr b="1" i="0" lang="ko" sz="899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→ 중간 과정을 추론</a:t>
            </a:r>
            <a:endParaRPr b="0" i="0" sz="899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7153224" y="3651756"/>
            <a:ext cx="1556700" cy="475500"/>
          </a:xfrm>
          <a:prstGeom prst="rect">
            <a:avLst/>
          </a:prstGeom>
          <a:solidFill>
            <a:srgbClr val="D1FAE5"/>
          </a:solidFill>
          <a:ln cap="flat" cmpd="sng" w="9525">
            <a:solidFill>
              <a:srgbClr val="D1D5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86475" lIns="86475" spcFirstLastPara="1" rIns="86475" wrap="square" tIns="864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7212283" y="3661525"/>
            <a:ext cx="1470300" cy="432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757"/>
              <a:buFont typeface="Calibri"/>
              <a:buNone/>
            </a:pPr>
            <a:r>
              <a:rPr b="1" i="0" lang="ko" sz="757" u="none" cap="none" strike="noStrike">
                <a:solidFill>
                  <a:srgbClr val="10B981"/>
                </a:solidFill>
                <a:latin typeface="Calibri"/>
                <a:ea typeface="Calibri"/>
                <a:cs typeface="Calibri"/>
                <a:sym typeface="Calibri"/>
              </a:rPr>
              <a:t>착안: </a:t>
            </a:r>
            <a:r>
              <a:rPr b="0" i="0" lang="ko" sz="757" u="none" cap="none" strike="noStrike">
                <a:solidFill>
                  <a:srgbClr val="065F46"/>
                </a:solidFill>
                <a:latin typeface="Calibri"/>
                <a:ea typeface="Calibri"/>
                <a:cs typeface="Calibri"/>
                <a:sym typeface="Calibri"/>
              </a:rPr>
              <a:t>사람은 목표 상태를 먼저 보고 중간을 채운다는 인지 연구</a:t>
            </a:r>
            <a:endParaRPr b="0" i="0" sz="75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6626256" y="2089407"/>
            <a:ext cx="259200" cy="25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3225" lIns="86475" spcFirstLastPara="1" rIns="86475" wrap="square" tIns="4322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0B981"/>
              </a:buClr>
              <a:buSzPts val="1324"/>
              <a:buFont typeface="Calibri"/>
              <a:buNone/>
            </a:pP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←</a:t>
            </a:r>
            <a:endParaRPr b="0" i="0" sz="1324" u="none" cap="none" strike="noStrike">
              <a:solidFill>
                <a:srgbClr val="6B728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1233246" y="4113081"/>
            <a:ext cx="6140700" cy="930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00302" lvl="0" marL="432436" marR="0" rtl="0" algn="l">
              <a:spcBef>
                <a:spcPts val="0"/>
              </a:spcBef>
              <a:spcAft>
                <a:spcPts val="0"/>
              </a:spcAft>
              <a:buSzPts val="1324"/>
              <a:buFont typeface="Calibri"/>
              <a:buChar char="●"/>
            </a:pPr>
            <a:r>
              <a:rPr lang="ko" sz="1324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시간 축으로 확장한 VAE 모델 VTA를 Backbone 모델로 활용 (시간 축에서의 압축)</a:t>
            </a:r>
            <a:endParaRPr sz="1324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00302" lvl="0" marL="432436" marR="0" rtl="0" algn="l">
              <a:spcBef>
                <a:spcPts val="0"/>
              </a:spcBef>
              <a:spcAft>
                <a:spcPts val="0"/>
              </a:spcAft>
              <a:buSzPts val="1324"/>
              <a:buFont typeface="Calibri"/>
              <a:buChar char="●"/>
            </a:pPr>
            <a:r>
              <a:rPr lang="ko" sz="1324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인지 과학 기반으로 설계한 </a:t>
            </a:r>
            <a:r>
              <a:rPr b="0" i="0" lang="ko" sz="1324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두 모듈 추가 시 </a:t>
            </a:r>
            <a:r>
              <a:rPr b="1" i="0" lang="ko" sz="1324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reconstruction loss 감소 + KL 유지</a:t>
            </a:r>
            <a:r>
              <a:rPr b="0" i="0" lang="ko" sz="1324" u="none" cap="none" strike="noStrike">
                <a:solidFill>
                  <a:srgbClr val="6B7280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b="0" i="0" sz="1324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6909211" y="1870046"/>
            <a:ext cx="1947600" cy="499200"/>
          </a:xfrm>
          <a:prstGeom prst="rect">
            <a:avLst/>
          </a:prstGeom>
          <a:noFill/>
          <a:ln>
            <a:noFill/>
          </a:ln>
        </p:spPr>
        <p:txBody>
          <a:bodyPr anchorCtr="0" anchor="t" bIns="38525" lIns="38525" spcFirstLastPara="1" rIns="38525" wrap="square" tIns="38525">
            <a:spAutoFit/>
          </a:bodyPr>
          <a:lstStyle/>
          <a:p>
            <a:pPr indent="-131086" lvl="0" marL="192613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●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GRU: 1) event level transition, 2) predict event boundary state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131086" lvl="0" marL="192613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●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event transformer inputting  boundary state at both ends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  <a:p>
            <a:pPr indent="-131086" lvl="1" marL="385227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8"/>
              <a:buFont typeface="Lato"/>
              <a:buChar char="○"/>
            </a:pPr>
            <a:r>
              <a:rPr lang="ko" sz="548">
                <a:solidFill>
                  <a:srgbClr val="FFFFFF"/>
                </a:solidFill>
                <a:latin typeface="Lato"/>
                <a:ea typeface="Lato"/>
                <a:cs typeface="Lato"/>
                <a:sym typeface="Lato"/>
              </a:rPr>
              <a:t>event masking per data within the batch</a:t>
            </a:r>
            <a:endParaRPr sz="548">
              <a:solidFill>
                <a:srgbClr val="FFFFFF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41" name="Google Shape;14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69430" y="1665138"/>
            <a:ext cx="1947744" cy="9212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17"/>
          <p:cNvPicPr preferRelativeResize="0"/>
          <p:nvPr/>
        </p:nvPicPr>
        <p:blipFill rotWithShape="1">
          <a:blip r:embed="rId4">
            <a:alphaModFix/>
          </a:blip>
          <a:srcRect b="713" l="0" r="0" t="4194"/>
          <a:stretch/>
        </p:blipFill>
        <p:spPr>
          <a:xfrm>
            <a:off x="8104392" y="2629084"/>
            <a:ext cx="577879" cy="446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248221" y="2585581"/>
            <a:ext cx="611062" cy="46966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7"/>
          <p:cNvSpPr/>
          <p:nvPr/>
        </p:nvSpPr>
        <p:spPr>
          <a:xfrm>
            <a:off x="7535222" y="2127299"/>
            <a:ext cx="121800" cy="150000"/>
          </a:xfrm>
          <a:prstGeom prst="ellipse">
            <a:avLst/>
          </a:prstGeom>
          <a:noFill/>
          <a:ln cap="flat" cmpd="sng" w="80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525" lIns="38525" spcFirstLastPara="1" rIns="38525" wrap="square" tIns="38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271705" y="2127299"/>
            <a:ext cx="121800" cy="150000"/>
          </a:xfrm>
          <a:prstGeom prst="ellipse">
            <a:avLst/>
          </a:prstGeom>
          <a:noFill/>
          <a:ln cap="flat" cmpd="sng" w="80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8525" lIns="38525" spcFirstLastPara="1" rIns="38525" wrap="square" tIns="385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90"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7477638" y="2252831"/>
            <a:ext cx="75965" cy="577251"/>
          </a:xfrm>
          <a:custGeom>
            <a:rect b="b" l="l" r="r" t="t"/>
            <a:pathLst>
              <a:path extrusionOk="0" h="68072" w="8387">
                <a:moveTo>
                  <a:pt x="8387" y="0"/>
                </a:moveTo>
                <a:cubicBezTo>
                  <a:pt x="6990" y="5927"/>
                  <a:pt x="47" y="24215"/>
                  <a:pt x="5" y="35560"/>
                </a:cubicBezTo>
                <a:cubicBezTo>
                  <a:pt x="-37" y="46905"/>
                  <a:pt x="6778" y="62653"/>
                  <a:pt x="8133" y="68072"/>
                </a:cubicBezTo>
              </a:path>
            </a:pathLst>
          </a:custGeom>
          <a:noFill/>
          <a:ln cap="flat" cmpd="sng" w="8025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sp>
      <p:sp>
        <p:nvSpPr>
          <p:cNvPr id="147" name="Google Shape;147;p17"/>
          <p:cNvSpPr/>
          <p:nvPr/>
        </p:nvSpPr>
        <p:spPr>
          <a:xfrm>
            <a:off x="8207217" y="2252831"/>
            <a:ext cx="75965" cy="577251"/>
          </a:xfrm>
          <a:custGeom>
            <a:rect b="b" l="l" r="r" t="t"/>
            <a:pathLst>
              <a:path extrusionOk="0" h="68072" w="8387">
                <a:moveTo>
                  <a:pt x="8387" y="0"/>
                </a:moveTo>
                <a:cubicBezTo>
                  <a:pt x="6990" y="5927"/>
                  <a:pt x="47" y="24215"/>
                  <a:pt x="5" y="35560"/>
                </a:cubicBezTo>
                <a:cubicBezTo>
                  <a:pt x="-37" y="46905"/>
                  <a:pt x="6778" y="62653"/>
                  <a:pt x="8133" y="68072"/>
                </a:cubicBezTo>
              </a:path>
            </a:pathLst>
          </a:custGeom>
          <a:noFill/>
          <a:ln cap="flat" cmpd="sng" w="8025">
            <a:solidFill>
              <a:srgbClr val="FF0000"/>
            </a:solidFill>
            <a:prstDash val="solid"/>
            <a:round/>
            <a:headEnd len="med" w="med" type="none"/>
            <a:tailEnd len="med" w="med" type="stealth"/>
          </a:ln>
        </p:spPr>
      </p:sp>
      <p:pic>
        <p:nvPicPr>
          <p:cNvPr descr="라인, 도표, 원이(가) 표시된 사진&#10;&#10;자동 생성된 설명" id="148" name="Google Shape;14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2927687" y="1546785"/>
            <a:ext cx="3651399" cy="109748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49" name="Google Shape;149;p17"/>
          <p:cNvCxnSpPr/>
          <p:nvPr/>
        </p:nvCxnSpPr>
        <p:spPr>
          <a:xfrm>
            <a:off x="5454864" y="1556083"/>
            <a:ext cx="0" cy="1088100"/>
          </a:xfrm>
          <a:prstGeom prst="straightConnector1">
            <a:avLst/>
          </a:prstGeom>
          <a:noFill/>
          <a:ln cap="flat" cmpd="sng" w="16075">
            <a:solidFill>
              <a:srgbClr val="4EA72E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50" name="Google Shape;150;p17"/>
          <p:cNvSpPr txBox="1"/>
          <p:nvPr/>
        </p:nvSpPr>
        <p:spPr>
          <a:xfrm>
            <a:off x="5126601" y="1377272"/>
            <a:ext cx="656700" cy="195000"/>
          </a:xfrm>
          <a:prstGeom prst="rect">
            <a:avLst/>
          </a:prstGeom>
          <a:blipFill rotWithShape="1">
            <a:blip r:embed="rId7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t" bIns="28950" lIns="57900" spcFirstLastPara="1" rIns="57900" wrap="square" tIns="2895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82">
                <a:latin typeface="Arial"/>
                <a:ea typeface="Arial"/>
                <a:cs typeface="Arial"/>
                <a:sym typeface="Arial"/>
              </a:rPr>
              <a:t> </a:t>
            </a:r>
            <a:endParaRPr sz="929"/>
          </a:p>
        </p:txBody>
      </p:sp>
      <p:pic>
        <p:nvPicPr>
          <p:cNvPr id="151" name="Google Shape;151;p1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871337" y="2952084"/>
            <a:ext cx="1641704" cy="70543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17"/>
          <p:cNvSpPr/>
          <p:nvPr/>
        </p:nvSpPr>
        <p:spPr>
          <a:xfrm>
            <a:off x="4841747" y="2459066"/>
            <a:ext cx="144300" cy="144000"/>
          </a:xfrm>
          <a:prstGeom prst="ellipse">
            <a:avLst/>
          </a:prstGeom>
          <a:noFill/>
          <a:ln cap="flat" cmpd="sng" w="1607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7200" lIns="77200" spcFirstLastPara="1" rIns="77200" wrap="square" tIns="772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82"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53" name="Google Shape;153;p17"/>
          <p:cNvCxnSpPr>
            <a:stCxn id="152" idx="4"/>
          </p:cNvCxnSpPr>
          <p:nvPr/>
        </p:nvCxnSpPr>
        <p:spPr>
          <a:xfrm>
            <a:off x="4913897" y="2603066"/>
            <a:ext cx="6600" cy="301800"/>
          </a:xfrm>
          <a:prstGeom prst="straightConnector1">
            <a:avLst/>
          </a:prstGeom>
          <a:noFill/>
          <a:ln cap="flat" cmpd="sng" w="16075">
            <a:solidFill>
              <a:srgbClr val="FF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54" name="Google Shape;154;p17"/>
          <p:cNvSpPr txBox="1"/>
          <p:nvPr/>
        </p:nvSpPr>
        <p:spPr>
          <a:xfrm>
            <a:off x="2847888" y="2912544"/>
            <a:ext cx="2020200" cy="1097400"/>
          </a:xfrm>
          <a:prstGeom prst="rect">
            <a:avLst/>
          </a:prstGeom>
          <a:noFill/>
          <a:ln>
            <a:noFill/>
          </a:ln>
        </p:spPr>
        <p:txBody>
          <a:bodyPr anchorCtr="0" anchor="t" bIns="86475" lIns="86475" spcFirstLastPara="1" rIns="86475" wrap="square" tIns="86475">
            <a:normAutofit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X: 각 프레임마다 실제 상태</a:t>
            </a:r>
            <a:b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M: event </a:t>
            </a:r>
            <a: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segmentation</a:t>
            </a:r>
            <a:b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Z: event </a:t>
            </a:r>
            <a:r>
              <a:rPr b="1" lang="ko" sz="1135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model</a:t>
            </a:r>
            <a:endParaRPr b="1" sz="1135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indent="-276278" lvl="0" marL="432436" rtl="0" algn="l">
              <a:lnSpc>
                <a:spcPct val="115000"/>
              </a:lnSpc>
              <a:spcBef>
                <a:spcPts val="1135"/>
              </a:spcBef>
              <a:spcAft>
                <a:spcPts val="0"/>
              </a:spcAft>
              <a:buClr>
                <a:srgbClr val="595959"/>
              </a:buClr>
              <a:buSzPts val="946"/>
              <a:buFont typeface="Lato"/>
              <a:buChar char="-"/>
            </a:pP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</a:t>
            </a:r>
            <a:r>
              <a:rPr baseline="-25000"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1</a:t>
            </a: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: 새가 돌을 향해 날아가 맞춤</a:t>
            </a:r>
            <a:endParaRPr sz="946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  <a:p>
            <a:pPr indent="-276278" lvl="0" marL="432436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946"/>
              <a:buFont typeface="Lato"/>
              <a:buChar char="-"/>
            </a:pP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z</a:t>
            </a:r>
            <a:r>
              <a:rPr baseline="-25000"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2</a:t>
            </a:r>
            <a:r>
              <a:rPr lang="ko" sz="946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: 돌이 맞고 떨어짐</a:t>
            </a:r>
            <a:endParaRPr sz="946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descr="스크린샷, 직사각형, 사각형, 픽셀이(가) 표시된 사진&#10;&#10;자동 생성된 설명" id="155" name="Google Shape;155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586158" y="2405131"/>
            <a:ext cx="906545" cy="6029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6" name="Google Shape;156;p17"/>
          <p:cNvCxnSpPr/>
          <p:nvPr/>
        </p:nvCxnSpPr>
        <p:spPr>
          <a:xfrm>
            <a:off x="994097" y="2666107"/>
            <a:ext cx="114300" cy="154500"/>
          </a:xfrm>
          <a:prstGeom prst="straightConnector1">
            <a:avLst/>
          </a:prstGeom>
          <a:noFill/>
          <a:ln cap="flat" cmpd="sng" w="10925">
            <a:solidFill>
              <a:srgbClr val="42AB50"/>
            </a:solidFill>
            <a:prstDash val="solid"/>
            <a:miter lim="800000"/>
            <a:headEnd len="sm" w="sm" type="none"/>
            <a:tailEnd len="med" w="med" type="stealth"/>
          </a:ln>
        </p:spPr>
      </p:cxnSp>
      <p:sp>
        <p:nvSpPr>
          <p:cNvPr id="157" name="Google Shape;157;p17"/>
          <p:cNvSpPr/>
          <p:nvPr/>
        </p:nvSpPr>
        <p:spPr>
          <a:xfrm>
            <a:off x="684000" y="2816838"/>
            <a:ext cx="426655" cy="72504"/>
          </a:xfrm>
          <a:custGeom>
            <a:rect b="b" l="l" r="r" t="t"/>
            <a:pathLst>
              <a:path extrusionOk="0" h="168613" w="992221">
                <a:moveTo>
                  <a:pt x="0" y="168613"/>
                </a:moveTo>
                <a:cubicBezTo>
                  <a:pt x="25152" y="158552"/>
                  <a:pt x="32455" y="158215"/>
                  <a:pt x="51881" y="142673"/>
                </a:cubicBezTo>
                <a:cubicBezTo>
                  <a:pt x="56655" y="138853"/>
                  <a:pt x="59382" y="132436"/>
                  <a:pt x="64851" y="129702"/>
                </a:cubicBezTo>
                <a:cubicBezTo>
                  <a:pt x="77079" y="123588"/>
                  <a:pt x="92386" y="124316"/>
                  <a:pt x="103762" y="116732"/>
                </a:cubicBezTo>
                <a:cubicBezTo>
                  <a:pt x="110247" y="112409"/>
                  <a:pt x="116095" y="106927"/>
                  <a:pt x="123217" y="103762"/>
                </a:cubicBezTo>
                <a:cubicBezTo>
                  <a:pt x="135711" y="98209"/>
                  <a:pt x="149158" y="95115"/>
                  <a:pt x="162128" y="90792"/>
                </a:cubicBezTo>
                <a:lnTo>
                  <a:pt x="181583" y="84307"/>
                </a:lnTo>
                <a:cubicBezTo>
                  <a:pt x="188068" y="79983"/>
                  <a:pt x="193916" y="74502"/>
                  <a:pt x="201038" y="71336"/>
                </a:cubicBezTo>
                <a:cubicBezTo>
                  <a:pt x="213531" y="65783"/>
                  <a:pt x="226979" y="62689"/>
                  <a:pt x="239949" y="58366"/>
                </a:cubicBezTo>
                <a:cubicBezTo>
                  <a:pt x="246434" y="56204"/>
                  <a:pt x="252772" y="53539"/>
                  <a:pt x="259404" y="51881"/>
                </a:cubicBezTo>
                <a:cubicBezTo>
                  <a:pt x="268051" y="49719"/>
                  <a:pt x="276808" y="47957"/>
                  <a:pt x="285345" y="45396"/>
                </a:cubicBezTo>
                <a:cubicBezTo>
                  <a:pt x="298440" y="41468"/>
                  <a:pt x="310992" y="35742"/>
                  <a:pt x="324255" y="32426"/>
                </a:cubicBezTo>
                <a:cubicBezTo>
                  <a:pt x="332902" y="30264"/>
                  <a:pt x="341626" y="28390"/>
                  <a:pt x="350196" y="25941"/>
                </a:cubicBezTo>
                <a:cubicBezTo>
                  <a:pt x="356769" y="24063"/>
                  <a:pt x="363019" y="21113"/>
                  <a:pt x="369651" y="19455"/>
                </a:cubicBezTo>
                <a:cubicBezTo>
                  <a:pt x="380345" y="16781"/>
                  <a:pt x="391204" y="14782"/>
                  <a:pt x="402077" y="12970"/>
                </a:cubicBezTo>
                <a:cubicBezTo>
                  <a:pt x="439093" y="6801"/>
                  <a:pt x="467828" y="4223"/>
                  <a:pt x="505838" y="0"/>
                </a:cubicBezTo>
                <a:cubicBezTo>
                  <a:pt x="557719" y="2162"/>
                  <a:pt x="609678" y="2912"/>
                  <a:pt x="661481" y="6485"/>
                </a:cubicBezTo>
                <a:cubicBezTo>
                  <a:pt x="672478" y="7243"/>
                  <a:pt x="683147" y="10579"/>
                  <a:pt x="693907" y="12970"/>
                </a:cubicBezTo>
                <a:cubicBezTo>
                  <a:pt x="723311" y="19504"/>
                  <a:pt x="726424" y="21648"/>
                  <a:pt x="758758" y="32426"/>
                </a:cubicBezTo>
                <a:lnTo>
                  <a:pt x="797668" y="45396"/>
                </a:lnTo>
                <a:cubicBezTo>
                  <a:pt x="804153" y="47558"/>
                  <a:pt x="810492" y="50223"/>
                  <a:pt x="817124" y="51881"/>
                </a:cubicBezTo>
                <a:cubicBezTo>
                  <a:pt x="825771" y="54043"/>
                  <a:pt x="834527" y="55805"/>
                  <a:pt x="843064" y="58366"/>
                </a:cubicBezTo>
                <a:cubicBezTo>
                  <a:pt x="856159" y="62295"/>
                  <a:pt x="868711" y="68020"/>
                  <a:pt x="881975" y="71336"/>
                </a:cubicBezTo>
                <a:cubicBezTo>
                  <a:pt x="921181" y="81137"/>
                  <a:pt x="899456" y="75002"/>
                  <a:pt x="946826" y="90792"/>
                </a:cubicBezTo>
                <a:cubicBezTo>
                  <a:pt x="953311" y="92954"/>
                  <a:pt x="960593" y="93485"/>
                  <a:pt x="966281" y="97277"/>
                </a:cubicBezTo>
                <a:cubicBezTo>
                  <a:pt x="988280" y="111943"/>
                  <a:pt x="980225" y="104736"/>
                  <a:pt x="992221" y="116732"/>
                </a:cubicBezTo>
              </a:path>
            </a:pathLst>
          </a:custGeom>
          <a:noFill/>
          <a:ln cap="flat" cmpd="sng" w="109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스크린샷, 직사각형, 사각형, 픽셀이(가) 표시된 사진&#10;&#10;자동 생성된 설명" id="158" name="Google Shape;158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496236" y="2405755"/>
            <a:ext cx="906545" cy="602969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/>
          <p:nvPr/>
        </p:nvSpPr>
        <p:spPr>
          <a:xfrm>
            <a:off x="2028344" y="2844247"/>
            <a:ext cx="63300" cy="28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60" name="Google Shape;160;p17"/>
          <p:cNvCxnSpPr/>
          <p:nvPr/>
        </p:nvCxnSpPr>
        <p:spPr>
          <a:xfrm>
            <a:off x="1907529" y="2671068"/>
            <a:ext cx="114300" cy="154500"/>
          </a:xfrm>
          <a:prstGeom prst="straightConnector1">
            <a:avLst/>
          </a:prstGeom>
          <a:noFill/>
          <a:ln cap="flat" cmpd="sng" w="10925">
            <a:solidFill>
              <a:srgbClr val="42AB50"/>
            </a:solidFill>
            <a:prstDash val="solid"/>
            <a:miter lim="800000"/>
            <a:headEnd len="sm" w="sm" type="none"/>
            <a:tailEnd len="med" w="med" type="stealth"/>
          </a:ln>
        </p:spPr>
      </p:cxnSp>
      <p:sp>
        <p:nvSpPr>
          <p:cNvPr id="161" name="Google Shape;161;p17"/>
          <p:cNvSpPr/>
          <p:nvPr/>
        </p:nvSpPr>
        <p:spPr>
          <a:xfrm>
            <a:off x="1588069" y="2809944"/>
            <a:ext cx="426655" cy="72504"/>
          </a:xfrm>
          <a:custGeom>
            <a:rect b="b" l="l" r="r" t="t"/>
            <a:pathLst>
              <a:path extrusionOk="0" h="168613" w="992221">
                <a:moveTo>
                  <a:pt x="0" y="168613"/>
                </a:moveTo>
                <a:cubicBezTo>
                  <a:pt x="25152" y="158552"/>
                  <a:pt x="32455" y="158215"/>
                  <a:pt x="51881" y="142673"/>
                </a:cubicBezTo>
                <a:cubicBezTo>
                  <a:pt x="56655" y="138853"/>
                  <a:pt x="59382" y="132436"/>
                  <a:pt x="64851" y="129702"/>
                </a:cubicBezTo>
                <a:cubicBezTo>
                  <a:pt x="77079" y="123588"/>
                  <a:pt x="92386" y="124316"/>
                  <a:pt x="103762" y="116732"/>
                </a:cubicBezTo>
                <a:cubicBezTo>
                  <a:pt x="110247" y="112409"/>
                  <a:pt x="116095" y="106927"/>
                  <a:pt x="123217" y="103762"/>
                </a:cubicBezTo>
                <a:cubicBezTo>
                  <a:pt x="135711" y="98209"/>
                  <a:pt x="149158" y="95115"/>
                  <a:pt x="162128" y="90792"/>
                </a:cubicBezTo>
                <a:lnTo>
                  <a:pt x="181583" y="84307"/>
                </a:lnTo>
                <a:cubicBezTo>
                  <a:pt x="188068" y="79983"/>
                  <a:pt x="193916" y="74502"/>
                  <a:pt x="201038" y="71336"/>
                </a:cubicBezTo>
                <a:cubicBezTo>
                  <a:pt x="213531" y="65783"/>
                  <a:pt x="226979" y="62689"/>
                  <a:pt x="239949" y="58366"/>
                </a:cubicBezTo>
                <a:cubicBezTo>
                  <a:pt x="246434" y="56204"/>
                  <a:pt x="252772" y="53539"/>
                  <a:pt x="259404" y="51881"/>
                </a:cubicBezTo>
                <a:cubicBezTo>
                  <a:pt x="268051" y="49719"/>
                  <a:pt x="276808" y="47957"/>
                  <a:pt x="285345" y="45396"/>
                </a:cubicBezTo>
                <a:cubicBezTo>
                  <a:pt x="298440" y="41468"/>
                  <a:pt x="310992" y="35742"/>
                  <a:pt x="324255" y="32426"/>
                </a:cubicBezTo>
                <a:cubicBezTo>
                  <a:pt x="332902" y="30264"/>
                  <a:pt x="341626" y="28390"/>
                  <a:pt x="350196" y="25941"/>
                </a:cubicBezTo>
                <a:cubicBezTo>
                  <a:pt x="356769" y="24063"/>
                  <a:pt x="363019" y="21113"/>
                  <a:pt x="369651" y="19455"/>
                </a:cubicBezTo>
                <a:cubicBezTo>
                  <a:pt x="380345" y="16781"/>
                  <a:pt x="391204" y="14782"/>
                  <a:pt x="402077" y="12970"/>
                </a:cubicBezTo>
                <a:cubicBezTo>
                  <a:pt x="439093" y="6801"/>
                  <a:pt x="467828" y="4223"/>
                  <a:pt x="505838" y="0"/>
                </a:cubicBezTo>
                <a:cubicBezTo>
                  <a:pt x="557719" y="2162"/>
                  <a:pt x="609678" y="2912"/>
                  <a:pt x="661481" y="6485"/>
                </a:cubicBezTo>
                <a:cubicBezTo>
                  <a:pt x="672478" y="7243"/>
                  <a:pt x="683147" y="10579"/>
                  <a:pt x="693907" y="12970"/>
                </a:cubicBezTo>
                <a:cubicBezTo>
                  <a:pt x="723311" y="19504"/>
                  <a:pt x="726424" y="21648"/>
                  <a:pt x="758758" y="32426"/>
                </a:cubicBezTo>
                <a:lnTo>
                  <a:pt x="797668" y="45396"/>
                </a:lnTo>
                <a:cubicBezTo>
                  <a:pt x="804153" y="47558"/>
                  <a:pt x="810492" y="50223"/>
                  <a:pt x="817124" y="51881"/>
                </a:cubicBezTo>
                <a:cubicBezTo>
                  <a:pt x="825771" y="54043"/>
                  <a:pt x="834527" y="55805"/>
                  <a:pt x="843064" y="58366"/>
                </a:cubicBezTo>
                <a:cubicBezTo>
                  <a:pt x="856159" y="62295"/>
                  <a:pt x="868711" y="68020"/>
                  <a:pt x="881975" y="71336"/>
                </a:cubicBezTo>
                <a:cubicBezTo>
                  <a:pt x="921181" y="81137"/>
                  <a:pt x="899456" y="75002"/>
                  <a:pt x="946826" y="90792"/>
                </a:cubicBezTo>
                <a:cubicBezTo>
                  <a:pt x="953311" y="92954"/>
                  <a:pt x="960593" y="93485"/>
                  <a:pt x="966281" y="97277"/>
                </a:cubicBezTo>
                <a:cubicBezTo>
                  <a:pt x="988280" y="111943"/>
                  <a:pt x="980225" y="104736"/>
                  <a:pt x="992221" y="116732"/>
                </a:cubicBezTo>
              </a:path>
            </a:pathLst>
          </a:custGeom>
          <a:noFill/>
          <a:ln cap="flat" cmpd="sng" w="10925">
            <a:solidFill>
              <a:srgbClr val="FF0000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17"/>
          <p:cNvSpPr/>
          <p:nvPr/>
        </p:nvSpPr>
        <p:spPr>
          <a:xfrm rot="304776">
            <a:off x="1153278" y="2855645"/>
            <a:ext cx="43947" cy="99945"/>
          </a:xfrm>
          <a:custGeom>
            <a:rect b="b" l="l" r="r" t="t"/>
            <a:pathLst>
              <a:path extrusionOk="0" h="230222" w="194553">
                <a:moveTo>
                  <a:pt x="0" y="22698"/>
                </a:moveTo>
                <a:cubicBezTo>
                  <a:pt x="5404" y="21617"/>
                  <a:pt x="11053" y="21391"/>
                  <a:pt x="16213" y="19456"/>
                </a:cubicBezTo>
                <a:cubicBezTo>
                  <a:pt x="19862" y="18088"/>
                  <a:pt x="22380" y="14554"/>
                  <a:pt x="25941" y="12971"/>
                </a:cubicBezTo>
                <a:cubicBezTo>
                  <a:pt x="32188" y="10195"/>
                  <a:pt x="38911" y="8648"/>
                  <a:pt x="45396" y="6486"/>
                </a:cubicBezTo>
                <a:lnTo>
                  <a:pt x="55123" y="3243"/>
                </a:lnTo>
                <a:lnTo>
                  <a:pt x="64851" y="0"/>
                </a:lnTo>
                <a:cubicBezTo>
                  <a:pt x="84306" y="1081"/>
                  <a:pt x="103819" y="1395"/>
                  <a:pt x="123217" y="3243"/>
                </a:cubicBezTo>
                <a:cubicBezTo>
                  <a:pt x="130020" y="3891"/>
                  <a:pt x="137650" y="8953"/>
                  <a:pt x="142672" y="12971"/>
                </a:cubicBezTo>
                <a:cubicBezTo>
                  <a:pt x="145059" y="14881"/>
                  <a:pt x="146771" y="17546"/>
                  <a:pt x="149158" y="19456"/>
                </a:cubicBezTo>
                <a:cubicBezTo>
                  <a:pt x="152201" y="21890"/>
                  <a:pt x="155643" y="23779"/>
                  <a:pt x="158885" y="25941"/>
                </a:cubicBezTo>
                <a:lnTo>
                  <a:pt x="178341" y="55124"/>
                </a:lnTo>
                <a:lnTo>
                  <a:pt x="184826" y="64852"/>
                </a:lnTo>
                <a:lnTo>
                  <a:pt x="191311" y="84307"/>
                </a:lnTo>
                <a:lnTo>
                  <a:pt x="194553" y="94034"/>
                </a:lnTo>
                <a:cubicBezTo>
                  <a:pt x="193472" y="129702"/>
                  <a:pt x="194048" y="165459"/>
                  <a:pt x="191311" y="201039"/>
                </a:cubicBezTo>
                <a:cubicBezTo>
                  <a:pt x="190787" y="207855"/>
                  <a:pt x="186988" y="214009"/>
                  <a:pt x="184826" y="220494"/>
                </a:cubicBezTo>
                <a:lnTo>
                  <a:pt x="181583" y="230222"/>
                </a:lnTo>
              </a:path>
            </a:pathLst>
          </a:custGeom>
          <a:noFill/>
          <a:ln cap="flat" cmpd="sng" w="10925">
            <a:solidFill>
              <a:srgbClr val="AEAEAE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19675" lIns="39350" spcFirstLastPara="1" rIns="39350" wrap="square" tIns="196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803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1864791" y="2520797"/>
            <a:ext cx="396000" cy="1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19675" lIns="39350" spcFirstLastPara="1" rIns="39350" wrap="square" tIns="19675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31">
                <a:solidFill>
                  <a:srgbClr val="42AB50"/>
                </a:solidFill>
                <a:latin typeface="Arial"/>
                <a:ea typeface="Arial"/>
                <a:cs typeface="Arial"/>
                <a:sym typeface="Arial"/>
              </a:rPr>
              <a:t>masked</a:t>
            </a:r>
            <a:endParaRPr sz="631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4" name="Google Shape;164;p17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55614" y="1403259"/>
            <a:ext cx="2189187" cy="922143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7"/>
          <p:cNvSpPr txBox="1"/>
          <p:nvPr/>
        </p:nvSpPr>
        <p:spPr>
          <a:xfrm>
            <a:off x="1443325" y="2985055"/>
            <a:ext cx="10659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2475" lIns="52475" spcFirstLastPara="1" rIns="52475" wrap="square" tIns="524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89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Counterfactual (masked)</a:t>
            </a:r>
            <a:endParaRPr sz="689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858899" y="2985055"/>
            <a:ext cx="396000" cy="212100"/>
          </a:xfrm>
          <a:prstGeom prst="rect">
            <a:avLst/>
          </a:prstGeom>
          <a:noFill/>
          <a:ln>
            <a:noFill/>
          </a:ln>
        </p:spPr>
        <p:txBody>
          <a:bodyPr anchorCtr="0" anchor="t" bIns="52475" lIns="52475" spcFirstLastPara="1" rIns="52475" wrap="square" tIns="524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89">
                <a:solidFill>
                  <a:srgbClr val="595959"/>
                </a:solidFill>
                <a:latin typeface="Lato"/>
                <a:ea typeface="Lato"/>
                <a:cs typeface="Lato"/>
                <a:sym typeface="Lato"/>
              </a:rPr>
              <a:t>Actual</a:t>
            </a:r>
            <a:endParaRPr sz="689">
              <a:solidFill>
                <a:srgbClr val="595959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8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SPCN: 학습 안정성 문제 해결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KAIST BML Lab · 팀 연구 · ICLR 202</a:t>
            </a:r>
            <a:r>
              <a:rPr lang="ko" sz="1300">
                <a:solidFill>
                  <a:srgbClr val="90A4AE"/>
                </a:solidFill>
              </a:rPr>
              <a:t>6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 Accepted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8"/>
          <p:cNvSpPr/>
          <p:nvPr/>
        </p:nvSpPr>
        <p:spPr>
          <a:xfrm>
            <a:off x="640080" y="13716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"/>
              <a:buFont typeface="Arial"/>
              <a:buNone/>
            </a:pPr>
            <a:r>
              <a:rPr b="1" i="0" lang="ko" sz="13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문제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640080" y="16916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None/>
            </a:pPr>
            <a:r>
              <a:rPr lang="ko" sz="1100">
                <a:solidFill>
                  <a:srgbClr val="212121"/>
                </a:solidFill>
              </a:rPr>
              <a:t>뇌 연구 기반 학습  알고리즘 </a:t>
            </a: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 Predictive Coding Network의 불안정 </a:t>
            </a:r>
            <a:r>
              <a:rPr lang="ko" sz="1100">
                <a:solidFill>
                  <a:srgbClr val="212121"/>
                </a:solidFill>
              </a:rPr>
              <a:t>발견</a:t>
            </a: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100" u="none" cap="none" strike="noStrike">
              <a:solidFill>
                <a:srgbClr val="21212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8"/>
          <p:cNvSpPr/>
          <p:nvPr/>
        </p:nvSpPr>
        <p:spPr>
          <a:xfrm>
            <a:off x="640080" y="2194560"/>
            <a:ext cx="3657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300"/>
              <a:buFont typeface="Arial"/>
              <a:buNone/>
            </a:pPr>
            <a:r>
              <a:rPr b="1" i="0" lang="ko" sz="13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해결 과정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640075" y="2514600"/>
            <a:ext cx="3931800" cy="152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chemeClr val="accent2"/>
                </a:solidFill>
              </a:rPr>
              <a:t>→ 뇌의 메커니즘을 더 잘 설명하는 Stable Predictive Coding Network 고안 후 안정성 확인</a:t>
            </a:r>
            <a:endParaRPr sz="1100">
              <a:solidFill>
                <a:schemeClr val="accen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대뇌 피질 피라미드 구조에 대한 아이디어 제공</a:t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SPCN 모델 구현</a:t>
            </a:r>
            <a:endParaRPr sz="1100">
              <a:solidFill>
                <a:schemeClr val="accent2"/>
              </a:solidFill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</a:pPr>
            <a:r>
              <a:rPr lang="ko" sz="1100">
                <a:solidFill>
                  <a:schemeClr val="accent2"/>
                </a:solidFill>
              </a:rPr>
              <a:t>다양한 안정성 지표 실험 값을 구하기 위한 테스트 코드 개발 및 실험 진행</a:t>
            </a:r>
            <a:endParaRPr sz="1100">
              <a:solidFill>
                <a:schemeClr val="accent2"/>
              </a:solidFill>
            </a:endParaRPr>
          </a:p>
        </p:txBody>
      </p:sp>
      <p:sp>
        <p:nvSpPr>
          <p:cNvPr id="179" name="Google Shape;179;p18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0" name="Google Shape;180;p18"/>
          <p:cNvPicPr preferRelativeResize="0"/>
          <p:nvPr/>
        </p:nvPicPr>
        <p:blipFill rotWithShape="1">
          <a:blip r:embed="rId3">
            <a:alphaModFix/>
          </a:blip>
          <a:srcRect b="0" l="0" r="319" t="0"/>
          <a:stretch/>
        </p:blipFill>
        <p:spPr>
          <a:xfrm>
            <a:off x="5198050" y="1764773"/>
            <a:ext cx="3843275" cy="2551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95900" y="486825"/>
            <a:ext cx="3021526" cy="97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9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추천시스템 백엔드 엔지니어링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시스템 설계: 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Boostcamp AI Tech · GitHub 기반 레포 추천 서비스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/>
          <p:nvPr/>
        </p:nvSpPr>
        <p:spPr>
          <a:xfrm>
            <a:off x="56125" y="3680400"/>
            <a:ext cx="8940300" cy="146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Candidate Generation → Ranking 2단계 추천 파이프라인 설계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Collaborative Filtering + Content-Based Hybrid 모델로 Cold-start 완화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Main API 서버(Node.js) + 모델 추론 서버(FastAPI) 서빙 아키텍처 구현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100"/>
              <a:buFont typeface="Arial"/>
              <a:buChar char="•"/>
            </a:pPr>
            <a:r>
              <a:rPr b="0" i="0" lang="ko" sz="11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Feature 엔지니어링 및 평가 지표 설계 (NDCG, Hit Rate)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1" name="Google Shape;19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65300" y="1113025"/>
            <a:ext cx="6480675" cy="2774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0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KG Explorer: 지식 그래프 기반 에이전트 시스템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20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AI/ML 기술 생태계를 KG로 구조화하고, 에이전트가 지식을 탐색·검증·확장하는 시스템 설계·구현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0"/>
          <p:cNvSpPr/>
          <p:nvPr/>
        </p:nvSpPr>
        <p:spPr>
          <a:xfrm>
            <a:off x="457200" y="1184575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1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구현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20"/>
          <p:cNvSpPr/>
          <p:nvPr/>
        </p:nvSpPr>
        <p:spPr>
          <a:xfrm>
            <a:off x="592200" y="4446178"/>
            <a:ext cx="3979800" cy="68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의도 분류 → Cypher 쿼리 자동 생성 → Neo4j KG 탐색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LLM + 벡터 유사도 기반 관계 추론 → Critic 에이전트의 품질 검증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탐색 → 갭 발견 → 문서 연결 → 재탐색의 자기 확장 루프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20"/>
          <p:cNvSpPr/>
          <p:nvPr/>
        </p:nvSpPr>
        <p:spPr>
          <a:xfrm>
            <a:off x="1268375" y="1593145"/>
            <a:ext cx="1453500" cy="585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1268375" y="1593145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KG 탐색 / 인사이트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패턴·갭 발견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0"/>
          <p:cNvSpPr/>
          <p:nvPr/>
        </p:nvSpPr>
        <p:spPr>
          <a:xfrm>
            <a:off x="2920200" y="1593145"/>
            <a:ext cx="1651800" cy="58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20"/>
          <p:cNvSpPr/>
          <p:nvPr/>
        </p:nvSpPr>
        <p:spPr>
          <a:xfrm>
            <a:off x="2920200" y="1593145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Intent Classification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→ Cypher 자동 생성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→ Neo4j 쿼리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0"/>
          <p:cNvSpPr/>
          <p:nvPr/>
        </p:nvSpPr>
        <p:spPr>
          <a:xfrm>
            <a:off x="1268375" y="2178123"/>
            <a:ext cx="1453500" cy="25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 갭 발견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0"/>
          <p:cNvSpPr/>
          <p:nvPr/>
        </p:nvSpPr>
        <p:spPr>
          <a:xfrm>
            <a:off x="1268375" y="2428828"/>
            <a:ext cx="1453500" cy="585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20"/>
          <p:cNvSpPr/>
          <p:nvPr/>
        </p:nvSpPr>
        <p:spPr>
          <a:xfrm>
            <a:off x="1268375" y="2428828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새 문서 연결 추론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 + 벡터 유사도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0"/>
          <p:cNvSpPr/>
          <p:nvPr/>
        </p:nvSpPr>
        <p:spPr>
          <a:xfrm>
            <a:off x="2920200" y="2428828"/>
            <a:ext cx="1651800" cy="58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20"/>
          <p:cNvSpPr/>
          <p:nvPr/>
        </p:nvSpPr>
        <p:spPr>
          <a:xfrm>
            <a:off x="2920200" y="2428828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ChromaDB 벡터 검색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+ LLM 관계 추론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+ 기존 KG 컨텍스트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0"/>
          <p:cNvSpPr/>
          <p:nvPr/>
        </p:nvSpPr>
        <p:spPr>
          <a:xfrm>
            <a:off x="1268375" y="3013806"/>
            <a:ext cx="14535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0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0"/>
          <p:cNvSpPr/>
          <p:nvPr/>
        </p:nvSpPr>
        <p:spPr>
          <a:xfrm>
            <a:off x="1268375" y="3180943"/>
            <a:ext cx="1453500" cy="585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20"/>
          <p:cNvSpPr/>
          <p:nvPr/>
        </p:nvSpPr>
        <p:spPr>
          <a:xfrm>
            <a:off x="1268375" y="3180943"/>
            <a:ext cx="14535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Critic 품질 게이트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근거·중복·정합성 검증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2920200" y="3180943"/>
            <a:ext cx="165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거부 → 재추론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0"/>
          <p:cNvSpPr/>
          <p:nvPr/>
        </p:nvSpPr>
        <p:spPr>
          <a:xfrm>
            <a:off x="1268375" y="3765921"/>
            <a:ext cx="1453500" cy="16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↓ 통과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0"/>
          <p:cNvSpPr/>
          <p:nvPr/>
        </p:nvSpPr>
        <p:spPr>
          <a:xfrm>
            <a:off x="1268375" y="3933057"/>
            <a:ext cx="1453500" cy="4179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20"/>
          <p:cNvSpPr/>
          <p:nvPr/>
        </p:nvSpPr>
        <p:spPr>
          <a:xfrm>
            <a:off x="1268375" y="3933057"/>
            <a:ext cx="1453500" cy="41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KG 업데이트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17" name="Google Shape;217;p20"/>
          <p:cNvCxnSpPr/>
          <p:nvPr/>
        </p:nvCxnSpPr>
        <p:spPr>
          <a:xfrm>
            <a:off x="994055" y="1593140"/>
            <a:ext cx="0" cy="2697600"/>
          </a:xfrm>
          <a:prstGeom prst="straightConnector1">
            <a:avLst/>
          </a:prstGeom>
          <a:noFill/>
          <a:ln cap="flat" cmpd="sng" w="19050">
            <a:solidFill>
              <a:srgbClr val="1565C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8" name="Google Shape;218;p20"/>
          <p:cNvSpPr/>
          <p:nvPr/>
        </p:nvSpPr>
        <p:spPr>
          <a:xfrm>
            <a:off x="353975" y="3010470"/>
            <a:ext cx="731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↑ 재탐색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0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0" name="Google Shape;220;p20" title="kgshow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47252" y="3059066"/>
            <a:ext cx="3314919" cy="153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20" title="answer_fu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247252" y="1373526"/>
            <a:ext cx="3314892" cy="15331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1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LG CNS ①: LLM Agent PoC 기획·개발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1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Agentic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 플랫폼사업팀 · LangGraph 기반 멀티에이전트 워크플로우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"/>
          <p:cNvSpPr/>
          <p:nvPr/>
        </p:nvSpPr>
        <p:spPr>
          <a:xfrm>
            <a:off x="457200" y="1417320"/>
            <a:ext cx="164592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21"/>
          <p:cNvSpPr/>
          <p:nvPr/>
        </p:nvSpPr>
        <p:spPr>
          <a:xfrm>
            <a:off x="457200" y="1463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INPUT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21"/>
          <p:cNvSpPr/>
          <p:nvPr/>
        </p:nvSpPr>
        <p:spPr>
          <a:xfrm>
            <a:off x="457200" y="18288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비정형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RFP 문서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457200" y="246888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고객사별 상이한 형식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기술 요건 + 사업 요건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혼재된 구조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/>
          <p:nvPr/>
        </p:nvSpPr>
        <p:spPr>
          <a:xfrm>
            <a:off x="7040880" y="1417320"/>
            <a:ext cx="1645920" cy="27432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5" name="Google Shape;235;p21"/>
          <p:cNvSpPr/>
          <p:nvPr/>
        </p:nvSpPr>
        <p:spPr>
          <a:xfrm>
            <a:off x="7040880" y="14630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OUTPUT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21"/>
          <p:cNvSpPr/>
          <p:nvPr/>
        </p:nvSpPr>
        <p:spPr>
          <a:xfrm>
            <a:off x="7040880" y="1828800"/>
            <a:ext cx="16459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구조화된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400"/>
              <a:buFont typeface="Arial"/>
              <a:buNone/>
            </a:pPr>
            <a:r>
              <a:rPr b="1" i="0" lang="ko" sz="14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제안서 슬라이드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1"/>
          <p:cNvSpPr/>
          <p:nvPr/>
        </p:nvSpPr>
        <p:spPr>
          <a:xfrm>
            <a:off x="7040880" y="2468880"/>
            <a:ext cx="164592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요구사항별 분류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기술 스펙 정리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PPT 자동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21"/>
          <p:cNvSpPr/>
          <p:nvPr/>
        </p:nvSpPr>
        <p:spPr>
          <a:xfrm>
            <a:off x="2468880" y="1417320"/>
            <a:ext cx="4206240" cy="27432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21"/>
          <p:cNvSpPr/>
          <p:nvPr/>
        </p:nvSpPr>
        <p:spPr>
          <a:xfrm>
            <a:off x="2468880" y="1463040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LangGraph Agent Pipeline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21"/>
          <p:cNvSpPr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1"/>
          <p:cNvSpPr/>
          <p:nvPr/>
        </p:nvSpPr>
        <p:spPr>
          <a:xfrm>
            <a:off x="3474720" y="18288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질의 유형 라우터 (조건 분기)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21"/>
          <p:cNvSpPr/>
          <p:nvPr/>
        </p:nvSpPr>
        <p:spPr>
          <a:xfrm>
            <a:off x="2743200" y="237744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21"/>
          <p:cNvSpPr/>
          <p:nvPr/>
        </p:nvSpPr>
        <p:spPr>
          <a:xfrm>
            <a:off x="2743200" y="23774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문서 파싱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1"/>
          <p:cNvSpPr/>
          <p:nvPr/>
        </p:nvSpPr>
        <p:spPr>
          <a:xfrm>
            <a:off x="4160520" y="237744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1"/>
          <p:cNvSpPr/>
          <p:nvPr/>
        </p:nvSpPr>
        <p:spPr>
          <a:xfrm>
            <a:off x="4160520" y="237744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요구사항 추출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1"/>
          <p:cNvSpPr/>
          <p:nvPr/>
        </p:nvSpPr>
        <p:spPr>
          <a:xfrm>
            <a:off x="2743200" y="292608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21"/>
          <p:cNvSpPr/>
          <p:nvPr/>
        </p:nvSpPr>
        <p:spPr>
          <a:xfrm>
            <a:off x="2743200" y="29260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분류/구조화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4160520" y="2926080"/>
            <a:ext cx="1280160" cy="41148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21"/>
          <p:cNvSpPr/>
          <p:nvPr/>
        </p:nvSpPr>
        <p:spPr>
          <a:xfrm>
            <a:off x="4160520" y="2926080"/>
            <a:ext cx="12801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1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PPT 생성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4297680" y="219456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200"/>
              <a:buFont typeface="Calibri"/>
              <a:buNone/>
            </a:pPr>
            <a:r>
              <a:rPr b="0" i="0" lang="ko" sz="12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3977640" y="237744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3200400" y="2743200"/>
            <a:ext cx="27432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3977640" y="2926080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5577840" y="2468880"/>
            <a:ext cx="914400" cy="73152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21"/>
          <p:cNvSpPr/>
          <p:nvPr/>
        </p:nvSpPr>
        <p:spPr>
          <a:xfrm>
            <a:off x="5577840" y="2468880"/>
            <a:ext cx="9144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Human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Approve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→ 다음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2057400" y="24688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6629400" y="24688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2"/>
          <p:cNvSpPr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2600"/>
              <a:buFont typeface="Arial Black"/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LG CNS ②: AI Agent 자동 평가 파이프라인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300"/>
              <a:buFont typeface="Arial"/>
              <a:buNone/>
            </a:pPr>
            <a:r>
              <a:rPr lang="ko" sz="1300">
                <a:solidFill>
                  <a:srgbClr val="90A4AE"/>
                </a:solidFill>
              </a:rPr>
              <a:t>Agentic</a:t>
            </a: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AI 플랫폼사업팀 · 10개 서비스 대상 품질 평가 체계 설계·구축 · 운영망 실가동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2"/>
          <p:cNvSpPr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22"/>
          <p:cNvSpPr/>
          <p:nvPr/>
        </p:nvSpPr>
        <p:spPr>
          <a:xfrm>
            <a:off x="457200" y="1463040"/>
            <a:ext cx="1371600" cy="146304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22"/>
          <p:cNvSpPr/>
          <p:nvPr/>
        </p:nvSpPr>
        <p:spPr>
          <a:xfrm>
            <a:off x="457200" y="150876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10개 AI Agent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서비스 로그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2"/>
          <p:cNvSpPr/>
          <p:nvPr/>
        </p:nvSpPr>
        <p:spPr>
          <a:xfrm>
            <a:off x="457200" y="201168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각 서비스가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다른 Sub Agent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호출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2"/>
          <p:cNvSpPr/>
          <p:nvPr/>
        </p:nvSpPr>
        <p:spPr>
          <a:xfrm>
            <a:off x="1828800" y="1828800"/>
            <a:ext cx="365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2"/>
          <p:cNvSpPr/>
          <p:nvPr/>
        </p:nvSpPr>
        <p:spPr>
          <a:xfrm>
            <a:off x="2194560" y="1505431"/>
            <a:ext cx="2926200" cy="14631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2" name="Google Shape;272;p22"/>
          <p:cNvSpPr/>
          <p:nvPr/>
        </p:nvSpPr>
        <p:spPr>
          <a:xfrm>
            <a:off x="2194560" y="15087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3F2FD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자동 평가 엔진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2"/>
          <p:cNvSpPr/>
          <p:nvPr/>
        </p:nvSpPr>
        <p:spPr>
          <a:xfrm>
            <a:off x="2194560" y="1755648"/>
            <a:ext cx="29260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Custom Judge · SLLM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2"/>
          <p:cNvSpPr/>
          <p:nvPr/>
        </p:nvSpPr>
        <p:spPr>
          <a:xfrm>
            <a:off x="213389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22"/>
          <p:cNvSpPr/>
          <p:nvPr/>
        </p:nvSpPr>
        <p:spPr>
          <a:xfrm>
            <a:off x="210563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의도 판단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적절성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2"/>
          <p:cNvSpPr/>
          <p:nvPr/>
        </p:nvSpPr>
        <p:spPr>
          <a:xfrm>
            <a:off x="318545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2"/>
          <p:cNvSpPr/>
          <p:nvPr/>
        </p:nvSpPr>
        <p:spPr>
          <a:xfrm>
            <a:off x="315719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도구 호출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적절성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2"/>
          <p:cNvSpPr/>
          <p:nvPr/>
        </p:nvSpPr>
        <p:spPr>
          <a:xfrm>
            <a:off x="4237013" y="2145511"/>
            <a:ext cx="914400" cy="685800"/>
          </a:xfrm>
          <a:prstGeom prst="rect">
            <a:avLst/>
          </a:prstGeom>
          <a:solidFill>
            <a:srgbClr val="1B2838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22"/>
          <p:cNvSpPr/>
          <p:nvPr/>
        </p:nvSpPr>
        <p:spPr>
          <a:xfrm>
            <a:off x="4208752" y="2145511"/>
            <a:ext cx="9144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답변 품질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Arial"/>
              <a:buNone/>
            </a:pPr>
            <a:r>
              <a:rPr b="1" i="0" lang="ko" sz="8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싱글/멀티턴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22"/>
          <p:cNvSpPr/>
          <p:nvPr/>
        </p:nvSpPr>
        <p:spPr>
          <a:xfrm>
            <a:off x="5120640" y="1828800"/>
            <a:ext cx="365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2"/>
          <p:cNvSpPr/>
          <p:nvPr/>
        </p:nvSpPr>
        <p:spPr>
          <a:xfrm>
            <a:off x="5486400" y="1463040"/>
            <a:ext cx="1371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22"/>
          <p:cNvSpPr/>
          <p:nvPr/>
        </p:nvSpPr>
        <p:spPr>
          <a:xfrm>
            <a:off x="5486400" y="146304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배치 단위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집계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2"/>
          <p:cNvSpPr/>
          <p:nvPr/>
        </p:nvSpPr>
        <p:spPr>
          <a:xfrm>
            <a:off x="5486400" y="21031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400"/>
              <a:buFont typeface="Calibri"/>
              <a:buNone/>
            </a:pPr>
            <a:r>
              <a:rPr b="0" i="0" lang="ko" sz="14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↓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22"/>
          <p:cNvSpPr/>
          <p:nvPr/>
        </p:nvSpPr>
        <p:spPr>
          <a:xfrm>
            <a:off x="5486400" y="2331720"/>
            <a:ext cx="1371600" cy="6400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22"/>
          <p:cNvSpPr/>
          <p:nvPr/>
        </p:nvSpPr>
        <p:spPr>
          <a:xfrm>
            <a:off x="5486400" y="2331720"/>
            <a:ext cx="13716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담당자 평가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1000"/>
              <a:buFont typeface="Arial"/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웹 포털 업로드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2"/>
          <p:cNvSpPr/>
          <p:nvPr/>
        </p:nvSpPr>
        <p:spPr>
          <a:xfrm>
            <a:off x="6858000" y="1828800"/>
            <a:ext cx="3657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800"/>
              <a:buFont typeface="Calibri"/>
              <a:buNone/>
            </a:pPr>
            <a:r>
              <a:rPr b="0" i="0" lang="ko" sz="1800" u="none" cap="none" strike="noStrike">
                <a:solidFill>
                  <a:srgbClr val="1565C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22"/>
          <p:cNvSpPr/>
          <p:nvPr/>
        </p:nvSpPr>
        <p:spPr>
          <a:xfrm>
            <a:off x="7223760" y="1463040"/>
            <a:ext cx="1463040" cy="14630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22"/>
          <p:cNvSpPr/>
          <p:nvPr/>
        </p:nvSpPr>
        <p:spPr>
          <a:xfrm>
            <a:off x="7223760" y="1554480"/>
            <a:ext cx="14630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"/>
              <a:buNone/>
            </a:pPr>
            <a:r>
              <a:rPr b="1" i="0" lang="ko" sz="11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사람의 평가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22"/>
          <p:cNvSpPr/>
          <p:nvPr/>
        </p:nvSpPr>
        <p:spPr>
          <a:xfrm>
            <a:off x="7223760" y="1920240"/>
            <a:ext cx="1463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담당자가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웹 포털에서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평가 결과 확인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</a:pPr>
            <a:r>
              <a:rPr b="0" i="0" lang="ko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+ 보정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0" name="Google Shape;290;p22"/>
          <p:cNvCxnSpPr/>
          <p:nvPr/>
        </p:nvCxnSpPr>
        <p:spPr>
          <a:xfrm>
            <a:off x="7955280" y="2971800"/>
            <a:ext cx="0" cy="36576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91" name="Google Shape;291;p22"/>
          <p:cNvCxnSpPr/>
          <p:nvPr/>
        </p:nvCxnSpPr>
        <p:spPr>
          <a:xfrm>
            <a:off x="3200400" y="3365821"/>
            <a:ext cx="4755000" cy="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92" name="Google Shape;292;p22"/>
          <p:cNvSpPr/>
          <p:nvPr/>
        </p:nvSpPr>
        <p:spPr>
          <a:xfrm>
            <a:off x="3200400" y="33832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65100"/>
              </a:buClr>
              <a:buSzPts val="800"/>
              <a:buFont typeface="Arial"/>
              <a:buNone/>
            </a:pPr>
            <a:r>
              <a:rPr b="0" i="0" lang="ko" sz="8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피드백 루프 → 평가 기준 개선</a:t>
            </a:r>
            <a:endParaRPr b="0" i="0" sz="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2"/>
          <p:cNvSpPr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200"/>
              <a:buFont typeface="Arial"/>
              <a:buNone/>
            </a:pPr>
            <a:r>
              <a:rPr b="1" i="0" lang="ko" sz="12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설계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2"/>
          <p:cNvSpPr/>
          <p:nvPr/>
        </p:nvSpPr>
        <p:spPr>
          <a:xfrm>
            <a:off x="640080" y="3977640"/>
            <a:ext cx="77724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10개 서비스가 각각 다른 Sub Agent를 호출하므로 서비스별 평가 기준 커스터마이징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자동 평가(LLM) + 사람 평가를 결합한 하이브리드 평가 체계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212121"/>
              </a:buClr>
              <a:buSzPts val="900"/>
              <a:buFont typeface="Arial"/>
              <a:buChar char="•"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배치 단위 운영으로 지속적 품질 모니터링 가능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2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22"/>
          <p:cNvSpPr/>
          <p:nvPr/>
        </p:nvSpPr>
        <p:spPr>
          <a:xfrm>
            <a:off x="457200" y="466344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565C0"/>
              </a:buClr>
              <a:buSzPts val="1000"/>
              <a:buFont typeface="Consolas"/>
              <a:buNone/>
            </a:pPr>
            <a:r>
              <a:rPr b="0" i="0" lang="ko" sz="1000" u="none" cap="none" strike="noStrike">
                <a:solidFill>
                  <a:srgbClr val="1565C0"/>
                </a:solidFill>
                <a:latin typeface="Consolas"/>
                <a:ea typeface="Consolas"/>
                <a:cs typeface="Consolas"/>
                <a:sym typeface="Consolas"/>
              </a:rPr>
              <a:t>Tech: Python · FastAPI · vLLM(SLLM) · Batch Processing · Human-in-the-loop Evaluation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2"/>
          <p:cNvSpPr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90A4AE"/>
              </a:buClr>
              <a:buSzPts val="1000"/>
              <a:buFont typeface="Calibri"/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98" name="Google Shape;298;p22"/>
          <p:cNvCxnSpPr/>
          <p:nvPr/>
        </p:nvCxnSpPr>
        <p:spPr>
          <a:xfrm rot="10800000">
            <a:off x="3200400" y="2992550"/>
            <a:ext cx="2700" cy="314100"/>
          </a:xfrm>
          <a:prstGeom prst="straightConnector1">
            <a:avLst/>
          </a:prstGeom>
          <a:noFill/>
          <a:ln cap="flat" cmpd="sng" w="19050">
            <a:solidFill>
              <a:srgbClr val="E65100"/>
            </a:solidFill>
            <a:prstDash val="solid"/>
            <a:round/>
            <a:headEnd len="sm" w="sm" type="none"/>
            <a:tailEnd len="sm" w="sm" type="stealth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Shape 501"/>
          <p:cNvSpPr txBox="1"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Multimodal RAG: 도면까지 읽는 매뉴얼 QA</a:t>
            </a:r>
          </a:p>
        </p:txBody>
      </p:sp>
      <p:sp>
        <p:nvSpPr>
          <p:cNvPr id="502" name="Shape 502"/>
          <p:cNvSpPr txBox="1"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개인 프로젝트 12주 · 가전 매뉴얼 6종(252p) · 텍스트 RAG → 크로스모달 → Agent</a:t>
            </a:r>
          </a:p>
        </p:txBody>
      </p:sp>
      <p:sp>
        <p:nvSpPr>
          <p:cNvPr id="503" name="Shape 503"/>
          <p:cNvSpPr txBox="1"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4" name="Shape 504"/>
          <p:cNvSpPr txBox="1"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5" name="Shape 505"/>
          <p:cNvSpPr txBox="1"/>
          <p:nvPr/>
        </p:nvSpPr>
        <p:spPr>
          <a:xfrm>
            <a:off x="457200" y="1417320"/>
            <a:ext cx="2377440" cy="173736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풀려던 문제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ko" sz="15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답이 그림에만 있다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본문은 기능만 서술하고,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E3F2FD"/>
                </a:solidFill>
                <a:latin typeface="Arial"/>
                <a:ea typeface="Arial"/>
                <a:cs typeface="Arial"/>
                <a:sym typeface="Arial"/>
              </a:rPr>
              <a:t>위치·방향·아이콘은 도면에만.</a:t>
            </a: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텍스트 RAG 정답 0/27</a:t>
            </a:r>
          </a:p>
        </p:txBody>
      </p:sp>
      <p:sp>
        <p:nvSpPr>
          <p:cNvPr id="506" name="Shape 506"/>
          <p:cNvSpPr txBox="1"/>
          <p:nvPr/>
        </p:nvSpPr>
        <p:spPr>
          <a:xfrm>
            <a:off x="3017520" y="1417320"/>
            <a:ext cx="2926080" cy="1737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1565C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07" name="Shape 507"/>
          <p:cNvSpPr txBox="1"/>
          <p:nvPr/>
        </p:nvSpPr>
        <p:spPr>
          <a:xfrm>
            <a:off x="3108960" y="150876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① 텍스트 RAG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Hybrid(BM25+Dense)+Reranker → Top-1 91.3%</a:t>
            </a:r>
          </a:p>
        </p:txBody>
      </p:sp>
      <p:sp>
        <p:nvSpPr>
          <p:cNvPr id="508" name="Shape 508"/>
          <p:cNvSpPr txBox="1"/>
          <p:nvPr/>
        </p:nvSpPr>
        <p:spPr>
          <a:xfrm>
            <a:off x="3108960" y="210312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② Agentic RAG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LangGraph 4노드 + Self-Query → 95.7%</a:t>
            </a:r>
          </a:p>
        </p:txBody>
      </p:sp>
      <p:sp>
        <p:nvSpPr>
          <p:cNvPr id="509" name="Shape 509"/>
          <p:cNvSpPr txBox="1"/>
          <p:nvPr/>
        </p:nvSpPr>
        <p:spPr>
          <a:xfrm>
            <a:off x="3108960" y="2697480"/>
            <a:ext cx="27432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5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③ 크로스모달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영역 캡션을 텍스트 인덱스에 합류</a:t>
            </a:r>
          </a:p>
        </p:txBody>
      </p:sp>
      <p:sp>
        <p:nvSpPr>
          <p:cNvPr id="510" name="Shape 510"/>
          <p:cNvSpPr txBox="1"/>
          <p:nvPr/>
        </p:nvSpPr>
        <p:spPr>
          <a:xfrm>
            <a:off x="6035040" y="1417320"/>
            <a:ext cx="2651760" cy="173736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핵심 설계 결정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1" i="0" lang="ko" sz="12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CLIP 12%  vs  VLM 캡션 75%</a:t>
            </a: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이미지 임베딩 대신 VLM이 만든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구조화 캡션을 기존 텍스트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인덱스에 합류시키는 방식 채택</a:t>
            </a: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선화 도면 + 한국어 라벨에서</a:t>
            </a: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CLIP은 도메인 부적합 (ADR-012)</a:t>
            </a:r>
          </a:p>
        </p:txBody>
      </p:sp>
      <p:sp>
        <p:nvSpPr>
          <p:cNvPr id="511" name="Shape 511"/>
          <p:cNvSpPr txBox="1"/>
          <p:nvPr/>
        </p:nvSpPr>
        <p:spPr>
          <a:xfrm>
            <a:off x="457200" y="3383280"/>
            <a:ext cx="8229600" cy="5029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평가셋 61문항 직접 구축 (도면에만 답이 있는 image-required 27문항)  ·  RAGAS + Citation · Refusal 도메인 메트릭으로 평가 파이프라인 자동화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Shape 512"/>
          <p:cNvSpPr txBox="1"/>
          <p:nvPr/>
        </p:nvSpPr>
        <p:spPr>
          <a:xfrm>
            <a:off x="640080" y="27432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2600" u="none" cap="none" strike="noStrike">
                <a:solidFill>
                  <a:srgbClr val="212121"/>
                </a:solidFill>
                <a:latin typeface="Arial Black"/>
                <a:ea typeface="Arial Black"/>
                <a:cs typeface="Arial Black"/>
                <a:sym typeface="Arial Black"/>
              </a:rPr>
              <a:t>Multimodal RAG: 무엇이 되고 무엇이 안 되는가</a:t>
            </a:r>
          </a:p>
        </p:txBody>
      </p:sp>
      <p:sp>
        <p:nvSpPr>
          <p:cNvPr id="513" name="Shape 513"/>
          <p:cNvSpPr txBox="1"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3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image-required 27문항 3-way 비교 · 직접 만든 문제로 검증</a:t>
            </a:r>
          </a:p>
        </p:txBody>
      </p:sp>
      <p:sp>
        <p:nvSpPr>
          <p:cNvPr id="514" name="Shape 514"/>
          <p:cNvSpPr txBox="1"/>
          <p:nvPr/>
        </p:nvSpPr>
        <p:spPr>
          <a:xfrm>
            <a:off x="640080" y="1097280"/>
            <a:ext cx="1097280" cy="3657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515" name="Shape 515"/>
          <p:cNvSpPr txBox="1"/>
          <p:nvPr/>
        </p:nvSpPr>
        <p:spPr>
          <a:xfrm>
            <a:off x="8503920" y="4709160"/>
            <a:ext cx="457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90A4AE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516" name="Shape 516"/>
          <p:cNvSpPr txBox="1"/>
          <p:nvPr/>
        </p:nvSpPr>
        <p:spPr>
          <a:xfrm>
            <a:off x="457200" y="1417320"/>
            <a:ext cx="173736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구성</a:t>
            </a:r>
          </a:p>
        </p:txBody>
      </p:sp>
      <p:sp>
        <p:nvSpPr>
          <p:cNvPr id="517" name="Shape 517"/>
          <p:cNvSpPr txBox="1"/>
          <p:nvPr/>
        </p:nvSpPr>
        <p:spPr>
          <a:xfrm>
            <a:off x="2194560" y="1417320"/>
            <a:ext cx="100584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정답</a:t>
            </a:r>
          </a:p>
        </p:txBody>
      </p:sp>
      <p:sp>
        <p:nvSpPr>
          <p:cNvPr id="518" name="Shape 518"/>
          <p:cNvSpPr txBox="1"/>
          <p:nvPr/>
        </p:nvSpPr>
        <p:spPr>
          <a:xfrm>
            <a:off x="3200400" y="1417320"/>
            <a:ext cx="118872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정답+부분</a:t>
            </a:r>
          </a:p>
        </p:txBody>
      </p:sp>
      <p:sp>
        <p:nvSpPr>
          <p:cNvPr id="519" name="Shape 519"/>
          <p:cNvSpPr txBox="1"/>
          <p:nvPr/>
        </p:nvSpPr>
        <p:spPr>
          <a:xfrm>
            <a:off x="4389120" y="1417320"/>
            <a:ext cx="914400" cy="41148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거절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457200" y="1828800"/>
            <a:ext cx="1737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C0  텍스트만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2194560" y="1828800"/>
            <a:ext cx="100584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0/27</a:t>
            </a:r>
          </a:p>
        </p:txBody>
      </p:sp>
      <p:sp>
        <p:nvSpPr>
          <p:cNvPr id="522" name="Shape 522"/>
          <p:cNvSpPr txBox="1"/>
          <p:nvPr/>
        </p:nvSpPr>
        <p:spPr>
          <a:xfrm>
            <a:off x="3200400" y="1828800"/>
            <a:ext cx="118872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0/27</a:t>
            </a:r>
          </a:p>
        </p:txBody>
      </p:sp>
      <p:sp>
        <p:nvSpPr>
          <p:cNvPr id="523" name="Shape 523"/>
          <p:cNvSpPr txBox="1"/>
          <p:nvPr/>
        </p:nvSpPr>
        <p:spPr>
          <a:xfrm>
            <a:off x="4389120" y="1828800"/>
            <a:ext cx="91440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24" name="Shape 524"/>
          <p:cNvSpPr txBox="1"/>
          <p:nvPr/>
        </p:nvSpPr>
        <p:spPr>
          <a:xfrm>
            <a:off x="457200" y="2240280"/>
            <a:ext cx="173736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C1page  페이지 캡션</a:t>
            </a:r>
          </a:p>
        </p:txBody>
      </p:sp>
      <p:sp>
        <p:nvSpPr>
          <p:cNvPr id="525" name="Shape 525"/>
          <p:cNvSpPr txBox="1"/>
          <p:nvPr/>
        </p:nvSpPr>
        <p:spPr>
          <a:xfrm>
            <a:off x="2194560" y="2240280"/>
            <a:ext cx="100584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1/27</a:t>
            </a:r>
          </a:p>
        </p:txBody>
      </p:sp>
      <p:sp>
        <p:nvSpPr>
          <p:cNvPr id="526" name="Shape 526"/>
          <p:cNvSpPr txBox="1"/>
          <p:nvPr/>
        </p:nvSpPr>
        <p:spPr>
          <a:xfrm>
            <a:off x="3200400" y="2240280"/>
            <a:ext cx="118872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5/27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4389120" y="2240280"/>
            <a:ext cx="914400" cy="41148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100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528" name="Shape 528"/>
          <p:cNvSpPr txBox="1"/>
          <p:nvPr/>
        </p:nvSpPr>
        <p:spPr>
          <a:xfrm>
            <a:off x="457200" y="2651760"/>
            <a:ext cx="173736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C1region  영역 캡션</a:t>
            </a:r>
          </a:p>
        </p:txBody>
      </p:sp>
      <p:sp>
        <p:nvSpPr>
          <p:cNvPr id="529" name="Shape 529"/>
          <p:cNvSpPr txBox="1"/>
          <p:nvPr/>
        </p:nvSpPr>
        <p:spPr>
          <a:xfrm>
            <a:off x="2194560" y="2651760"/>
            <a:ext cx="100584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8/27</a:t>
            </a:r>
          </a:p>
        </p:txBody>
      </p:sp>
      <p:sp>
        <p:nvSpPr>
          <p:cNvPr id="530" name="Shape 530"/>
          <p:cNvSpPr txBox="1"/>
          <p:nvPr/>
        </p:nvSpPr>
        <p:spPr>
          <a:xfrm>
            <a:off x="3200400" y="2651760"/>
            <a:ext cx="118872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12/27</a:t>
            </a:r>
          </a:p>
        </p:txBody>
      </p:sp>
      <p:sp>
        <p:nvSpPr>
          <p:cNvPr id="531" name="Shape 531"/>
          <p:cNvSpPr txBox="1"/>
          <p:nvPr/>
        </p:nvSpPr>
        <p:spPr>
          <a:xfrm>
            <a:off x="4389120" y="2651760"/>
            <a:ext cx="914400" cy="411480"/>
          </a:xfrm>
          <a:prstGeom prst="rect">
            <a:avLst/>
          </a:prstGeom>
          <a:solidFill>
            <a:srgbClr val="E3F2FD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532" name="Shape 532"/>
          <p:cNvSpPr txBox="1"/>
          <p:nvPr/>
        </p:nvSpPr>
        <p:spPr>
          <a:xfrm>
            <a:off x="5303520" y="1417320"/>
            <a:ext cx="3383280" cy="164592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90A4A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i="0" lang="ko" sz="1100" u="none" cap="none" strike="noStrike">
                <a:solidFill>
                  <a:srgbClr val="E65100"/>
                </a:solidFill>
                <a:latin typeface="Arial"/>
                <a:ea typeface="Arial"/>
                <a:cs typeface="Arial"/>
                <a:sym typeface="Arial"/>
              </a:rPr>
              <a:t>정직한 한계</a:t>
            </a: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이득은 아이콘에 집중 (8문항 중 6)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방향 유형은 세 구성 모두 0/4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표본 27문항, 채점자 = 작성자</a:t>
            </a:r>
          </a:p>
          <a:p>
            <a:pPr indent="0" lvl="0" marL="0" marR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· 영역 캡션은 15페이지에만 존재</a:t>
            </a:r>
          </a:p>
        </p:txBody>
      </p:sp>
      <p:sp>
        <p:nvSpPr>
          <p:cNvPr id="533" name="Shape 533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ko" sz="1000" u="none" cap="none" strike="noStrike">
                <a:solidFill>
                  <a:srgbClr val="1565C0"/>
                </a:solidFill>
                <a:latin typeface="Arial"/>
                <a:ea typeface="Arial"/>
                <a:cs typeface="Arial"/>
                <a:sym typeface="Arial"/>
              </a:rPr>
              <a:t>실패 분석 — 근거가 있는데 답하지 못한 6건을 컨텍스트 고정 후 생성만 재실행하여 분해</a:t>
            </a:r>
          </a:p>
          <a:p>
            <a:pPr indent="0" lvl="0" marL="0" marR="0" rtl="0" algn="l">
              <a:lnSpc>
                <a:spcPct val="100000"/>
              </a:lnSpc>
              <a:spcBef>
                <a:spcPts val="25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rPr>
              <a:t>프롬프트 개선은 거절을 13→2로 줄였지만 틀린 회전 방향을 자신 있게 답하고 타 제품 수치를 끌어오는 환각을 만들어 기각 · 파이프라인 미변경</a:t>
            </a:r>
          </a:p>
        </p:txBody>
      </p:sp>
      <p:sp>
        <p:nvSpPr>
          <p:cNvPr id="534" name="Shape 534"/>
          <p:cNvSpPr txBox="1"/>
          <p:nvPr/>
        </p:nvSpPr>
        <p:spPr>
          <a:xfrm>
            <a:off x="457200" y="4084320"/>
            <a:ext cx="8229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20" lIns="91440" rIns="91440" tIns="45720" wrap="square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ko" sz="950" u="none" cap="none" strike="noStrike">
                <a:solidFill>
                  <a:srgbClr val="90A4AE"/>
                </a:solidFill>
                <a:latin typeface="Consolas"/>
                <a:ea typeface="Consolas"/>
                <a:cs typeface="Consolas"/>
                <a:sym typeface="Consolas"/>
              </a:rPr>
              <a:t>Tech: LangGraph · ChromaDB · PyMuPDF · VLM Region Captioning · RAGAS · ADR 12건 · Claude Code loop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